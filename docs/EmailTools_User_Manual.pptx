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ec1001432244dd" /><Relationship Type="http://schemas.openxmlformats.org/officeDocument/2006/relationships/extended-properties" Target="/docProps/app.xml" Id="R34193b06f6404d80" /><Relationship Type="http://schemas.openxmlformats.org/officeDocument/2006/relationships/officeDocument" Target="/ppt/presentation.xml" Id="Rdbab79ff5d14405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7eb0c115e2241b4"/>
  </p:sldMasterIdLst>
  <p:notesMasterIdLst>
    <p:notesMasterId xmlns:r="http://schemas.openxmlformats.org/officeDocument/2006/relationships" r:id="R3ff5a881007a4524"/>
  </p:notesMasterIdLst>
  <p:sldIdLst>
    <p:sldId xmlns:r="http://schemas.openxmlformats.org/officeDocument/2006/relationships" id="256" r:id="R23c62c189e5f4b4d"/>
    <p:sldId xmlns:r="http://schemas.openxmlformats.org/officeDocument/2006/relationships" id="257" r:id="R1ae6100894094d66"/>
    <p:sldId xmlns:r="http://schemas.openxmlformats.org/officeDocument/2006/relationships" id="258" r:id="R91e6167f3a2b41ac"/>
    <p:sldId xmlns:r="http://schemas.openxmlformats.org/officeDocument/2006/relationships" id="259" r:id="R94af9cf5852f448d"/>
    <p:sldId xmlns:r="http://schemas.openxmlformats.org/officeDocument/2006/relationships" id="260" r:id="R339423c0d3d445fc"/>
    <p:sldId xmlns:r="http://schemas.openxmlformats.org/officeDocument/2006/relationships" id="261" r:id="R547cfe896c0b4c35"/>
    <p:sldId xmlns:r="http://schemas.openxmlformats.org/officeDocument/2006/relationships" id="262" r:id="R66b9a93c6eaf4e7c"/>
    <p:sldId xmlns:r="http://schemas.openxmlformats.org/officeDocument/2006/relationships" id="263" r:id="Rc2563bc8852a4622"/>
    <p:sldId xmlns:r="http://schemas.openxmlformats.org/officeDocument/2006/relationships" id="264" r:id="R56d5aeb993c3453f"/>
    <p:sldId xmlns:r="http://schemas.openxmlformats.org/officeDocument/2006/relationships" id="265" r:id="Rfc8972698b7d4523"/>
    <p:sldId xmlns:r="http://schemas.openxmlformats.org/officeDocument/2006/relationships" id="266" r:id="Rc139db9d0df743e0"/>
    <p:sldId xmlns:r="http://schemas.openxmlformats.org/officeDocument/2006/relationships" id="267" r:id="R459bb976dffc4bde"/>
    <p:sldId xmlns:r="http://schemas.openxmlformats.org/officeDocument/2006/relationships" id="268" r:id="R0db64bd8790f4a34"/>
    <p:sldId xmlns:r="http://schemas.openxmlformats.org/officeDocument/2006/relationships" id="269" r:id="R062cb8f8796b40fb"/>
    <p:sldId xmlns:r="http://schemas.openxmlformats.org/officeDocument/2006/relationships" id="270" r:id="Re4afa88d4eb34a80"/>
    <p:sldId xmlns:r="http://schemas.openxmlformats.org/officeDocument/2006/relationships" id="271" r:id="R5bf3b87cce154d47"/>
    <p:sldId xmlns:r="http://schemas.openxmlformats.org/officeDocument/2006/relationships" id="272" r:id="R20ac61a1df6b47d2"/>
    <p:sldId xmlns:r="http://schemas.openxmlformats.org/officeDocument/2006/relationships" id="273" r:id="Rbca15a00d44346af"/>
    <p:sldId xmlns:r="http://schemas.openxmlformats.org/officeDocument/2006/relationships" id="274" r:id="Rbd7299c7c77146dd"/>
    <p:sldId xmlns:r="http://schemas.openxmlformats.org/officeDocument/2006/relationships" id="275" r:id="R2c3215fc8ec04008"/>
    <p:sldId xmlns:r="http://schemas.openxmlformats.org/officeDocument/2006/relationships" id="276" r:id="R3e67513ee43c4795"/>
    <p:sldId xmlns:r="http://schemas.openxmlformats.org/officeDocument/2006/relationships" id="277" r:id="Ref637a952c694ba6"/>
    <p:sldId xmlns:r="http://schemas.openxmlformats.org/officeDocument/2006/relationships" id="278" r:id="R19c0104d86a5421e"/>
    <p:sldId xmlns:r="http://schemas.openxmlformats.org/officeDocument/2006/relationships" id="279" r:id="R70cd37dc32774632"/>
    <p:sldId xmlns:r="http://schemas.openxmlformats.org/officeDocument/2006/relationships" id="280" r:id="R4f01d80d1e9743b0"/>
    <p:sldId xmlns:r="http://schemas.openxmlformats.org/officeDocument/2006/relationships" id="281" r:id="R08b3ee004d3a4d8c"/>
    <p:sldId xmlns:r="http://schemas.openxmlformats.org/officeDocument/2006/relationships" id="282" r:id="R602a8da48cd04a58"/>
    <p:sldId xmlns:r="http://schemas.openxmlformats.org/officeDocument/2006/relationships" id="283" r:id="R545367df55614384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9438c653ba4675" /><Relationship Type="http://schemas.openxmlformats.org/officeDocument/2006/relationships/slideMaster" Target="/ppt/slideMasters/slideMaster1.xml" Id="Rb7eb0c115e2241b4" /><Relationship Type="http://schemas.openxmlformats.org/officeDocument/2006/relationships/notesMaster" Target="/ppt/notesMasters/notesMaster1.xml" Id="R3ff5a881007a4524" /><Relationship Type="http://schemas.openxmlformats.org/officeDocument/2006/relationships/presProps" Target="/ppt/presProps.xml" Id="R599d9d0638fb4e89" /><Relationship Type="http://schemas.openxmlformats.org/officeDocument/2006/relationships/tableStyles" Target="/ppt/tableStyles.xml" Id="Rd0c24f52fc4c4c20" /><Relationship Type="http://schemas.openxmlformats.org/officeDocument/2006/relationships/slide" Target="/ppt/slides/slide1.xml" Id="R23c62c189e5f4b4d" /><Relationship Type="http://schemas.openxmlformats.org/officeDocument/2006/relationships/slide" Target="/ppt/slides/slide2.xml" Id="R1ae6100894094d66" /><Relationship Type="http://schemas.openxmlformats.org/officeDocument/2006/relationships/slide" Target="/ppt/slides/slide3.xml" Id="R91e6167f3a2b41ac" /><Relationship Type="http://schemas.openxmlformats.org/officeDocument/2006/relationships/slide" Target="/ppt/slides/slide4.xml" Id="R94af9cf5852f448d" /><Relationship Type="http://schemas.openxmlformats.org/officeDocument/2006/relationships/slide" Target="/ppt/slides/slide5.xml" Id="R339423c0d3d445fc" /><Relationship Type="http://schemas.openxmlformats.org/officeDocument/2006/relationships/slide" Target="/ppt/slides/slide6.xml" Id="R547cfe896c0b4c35" /><Relationship Type="http://schemas.openxmlformats.org/officeDocument/2006/relationships/slide" Target="/ppt/slides/slide7.xml" Id="R66b9a93c6eaf4e7c" /><Relationship Type="http://schemas.openxmlformats.org/officeDocument/2006/relationships/slide" Target="/ppt/slides/slide8.xml" Id="Rc2563bc8852a4622" /><Relationship Type="http://schemas.openxmlformats.org/officeDocument/2006/relationships/slide" Target="/ppt/slides/slide9.xml" Id="R56d5aeb993c3453f" /><Relationship Type="http://schemas.openxmlformats.org/officeDocument/2006/relationships/slide" Target="/ppt/slides/slide10.xml" Id="Rfc8972698b7d4523" /><Relationship Type="http://schemas.openxmlformats.org/officeDocument/2006/relationships/slide" Target="/ppt/slides/slide11.xml" Id="Rc139db9d0df743e0" /><Relationship Type="http://schemas.openxmlformats.org/officeDocument/2006/relationships/slide" Target="/ppt/slides/slide12.xml" Id="R459bb976dffc4bde" /><Relationship Type="http://schemas.openxmlformats.org/officeDocument/2006/relationships/slide" Target="/ppt/slides/slide13.xml" Id="R0db64bd8790f4a34" /><Relationship Type="http://schemas.openxmlformats.org/officeDocument/2006/relationships/slide" Target="/ppt/slides/slide14.xml" Id="R062cb8f8796b40fb" /><Relationship Type="http://schemas.openxmlformats.org/officeDocument/2006/relationships/slide" Target="/ppt/slides/slide15.xml" Id="Re4afa88d4eb34a80" /><Relationship Type="http://schemas.openxmlformats.org/officeDocument/2006/relationships/slide" Target="/ppt/slides/slide16.xml" Id="R5bf3b87cce154d47" /><Relationship Type="http://schemas.openxmlformats.org/officeDocument/2006/relationships/slide" Target="/ppt/slides/slide17.xml" Id="R20ac61a1df6b47d2" /><Relationship Type="http://schemas.openxmlformats.org/officeDocument/2006/relationships/slide" Target="/ppt/slides/slide18.xml" Id="Rbca15a00d44346af" /><Relationship Type="http://schemas.openxmlformats.org/officeDocument/2006/relationships/slide" Target="/ppt/slides/slide19.xml" Id="Rbd7299c7c77146dd" /><Relationship Type="http://schemas.openxmlformats.org/officeDocument/2006/relationships/slide" Target="/ppt/slides/slide20.xml" Id="R2c3215fc8ec04008" /><Relationship Type="http://schemas.openxmlformats.org/officeDocument/2006/relationships/slide" Target="/ppt/slides/slide21.xml" Id="R3e67513ee43c4795" /><Relationship Type="http://schemas.openxmlformats.org/officeDocument/2006/relationships/slide" Target="/ppt/slides/slide22.xml" Id="Ref637a952c694ba6" /><Relationship Type="http://schemas.openxmlformats.org/officeDocument/2006/relationships/slide" Target="/ppt/slides/slide23.xml" Id="R19c0104d86a5421e" /><Relationship Type="http://schemas.openxmlformats.org/officeDocument/2006/relationships/slide" Target="/ppt/slides/slide24.xml" Id="R70cd37dc32774632" /><Relationship Type="http://schemas.openxmlformats.org/officeDocument/2006/relationships/slide" Target="/ppt/slides/slide25.xml" Id="R4f01d80d1e9743b0" /><Relationship Type="http://schemas.openxmlformats.org/officeDocument/2006/relationships/slide" Target="/ppt/slides/slide26.xml" Id="R08b3ee004d3a4d8c" /><Relationship Type="http://schemas.openxmlformats.org/officeDocument/2006/relationships/slide" Target="/ppt/slides/slide27.xml" Id="R602a8da48cd04a58" /><Relationship Type="http://schemas.openxmlformats.org/officeDocument/2006/relationships/slide" Target="/ppt/slides/slide28.xml" Id="R545367df556143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75f2447e024d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b7ed57b83724042" /><Relationship Type="http://schemas.openxmlformats.org/officeDocument/2006/relationships/notesMaster" Target="/ppt/notesMasters/notesMaster1.xml" Id="R6a70b883d40b41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97aa5650015415a" /><Relationship Type="http://schemas.openxmlformats.org/officeDocument/2006/relationships/notesMaster" Target="/ppt/notesMasters/notesMaster1.xml" Id="R248dfcd938084c9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3178a21b4644f1a" /><Relationship Type="http://schemas.openxmlformats.org/officeDocument/2006/relationships/notesMaster" Target="/ppt/notesMasters/notesMaster1.xml" Id="Rddb5ae9613c14e1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bfe419a543422e" /><Relationship Type="http://schemas.openxmlformats.org/officeDocument/2006/relationships/notesMaster" Target="/ppt/notesMasters/notesMaster1.xml" Id="Rac3789345a7f49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d70ee667f4e4384" /><Relationship Type="http://schemas.openxmlformats.org/officeDocument/2006/relationships/notesMaster" Target="/ppt/notesMasters/notesMaster1.xml" Id="Rfa40d47e1b8949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34ee3df4956489f" /><Relationship Type="http://schemas.openxmlformats.org/officeDocument/2006/relationships/notesMaster" Target="/ppt/notesMasters/notesMaster1.xml" Id="R5a71eab9db8b4a7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5cc38d121a462c" /><Relationship Type="http://schemas.openxmlformats.org/officeDocument/2006/relationships/notesMaster" Target="/ppt/notesMasters/notesMaster1.xml" Id="R57d6adfedd5a41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fcf4ab16adb4671" /><Relationship Type="http://schemas.openxmlformats.org/officeDocument/2006/relationships/notesMaster" Target="/ppt/notesMasters/notesMaster1.xml" Id="R2a353765779a48f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e9236a4f1f42d3" /><Relationship Type="http://schemas.openxmlformats.org/officeDocument/2006/relationships/notesMaster" Target="/ppt/notesMasters/notesMaster1.xml" Id="R01f3fa75866c4e9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b39876ada7346f6" /><Relationship Type="http://schemas.openxmlformats.org/officeDocument/2006/relationships/notesMaster" Target="/ppt/notesMasters/notesMaster1.xml" Id="R711e5a643e0a4d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1484eb79d694275" /><Relationship Type="http://schemas.openxmlformats.org/officeDocument/2006/relationships/notesMaster" Target="/ppt/notesMasters/notesMaster1.xml" Id="R29e118d370da40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95dc75a25242c2" /><Relationship Type="http://schemas.openxmlformats.org/officeDocument/2006/relationships/notesMaster" Target="/ppt/notesMasters/notesMaster1.xml" Id="R46daf05fb1e048f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d823aa95e444bf2" /><Relationship Type="http://schemas.openxmlformats.org/officeDocument/2006/relationships/notesMaster" Target="/ppt/notesMasters/notesMaster1.xml" Id="R9a7cbe1cd455485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25a11e1e377472b" /><Relationship Type="http://schemas.openxmlformats.org/officeDocument/2006/relationships/notesMaster" Target="/ppt/notesMasters/notesMaster1.xml" Id="R1d55ee2d595b4ca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28e4b05a18b4449" /><Relationship Type="http://schemas.openxmlformats.org/officeDocument/2006/relationships/notesMaster" Target="/ppt/notesMasters/notesMaster1.xml" Id="R2f7f28e828ee409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7e3639f2ccf44fe" /><Relationship Type="http://schemas.openxmlformats.org/officeDocument/2006/relationships/notesMaster" Target="/ppt/notesMasters/notesMaster1.xml" Id="R73d943f83444476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8860d2cf3cb49b5" /><Relationship Type="http://schemas.openxmlformats.org/officeDocument/2006/relationships/notesMaster" Target="/ppt/notesMasters/notesMaster1.xml" Id="R87317be437df4a2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9e229a9e58345e3" /><Relationship Type="http://schemas.openxmlformats.org/officeDocument/2006/relationships/notesMaster" Target="/ppt/notesMasters/notesMaster1.xml" Id="Rd6bce58f77ae429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cbed79001c94e3c" /><Relationship Type="http://schemas.openxmlformats.org/officeDocument/2006/relationships/notesMaster" Target="/ppt/notesMasters/notesMaster1.xml" Id="R72fc21650dca46d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627771eeafa49fb" /><Relationship Type="http://schemas.openxmlformats.org/officeDocument/2006/relationships/notesMaster" Target="/ppt/notesMasters/notesMaster1.xml" Id="R1e47a88c62ca4bf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9a82fe11daed4ff6" /><Relationship Type="http://schemas.openxmlformats.org/officeDocument/2006/relationships/notesMaster" Target="/ppt/notesMasters/notesMaster1.xml" Id="R710fe06b11d746c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f7497f5c2f064601" /><Relationship Type="http://schemas.openxmlformats.org/officeDocument/2006/relationships/notesMaster" Target="/ppt/notesMasters/notesMaster1.xml" Id="R06d40e1789dc44ea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5c4a0030a15466c" /><Relationship Type="http://schemas.openxmlformats.org/officeDocument/2006/relationships/notesMaster" Target="/ppt/notesMasters/notesMaster1.xml" Id="R40a3e2bd25c2457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e35e79cf270c47c1" /><Relationship Type="http://schemas.openxmlformats.org/officeDocument/2006/relationships/notesMaster" Target="/ppt/notesMasters/notesMaster1.xml" Id="Rcc1431a453a04c4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da045fdad5474344" /><Relationship Type="http://schemas.openxmlformats.org/officeDocument/2006/relationships/notesMaster" Target="/ppt/notesMasters/notesMaster1.xml" Id="R22160017d7854c5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8a01a832c254696" /><Relationship Type="http://schemas.openxmlformats.org/officeDocument/2006/relationships/notesMaster" Target="/ppt/notesMasters/notesMaster1.xml" Id="R812480e263e7495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af1adbf64e04b45" /><Relationship Type="http://schemas.openxmlformats.org/officeDocument/2006/relationships/notesMaster" Target="/ppt/notesMasters/notesMaster1.xml" Id="R3df80e4559004c0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ab573260abe4303" /><Relationship Type="http://schemas.openxmlformats.org/officeDocument/2006/relationships/notesMaster" Target="/ppt/notesMasters/notesMaster1.xml" Id="R48d9018732814a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EmailTools 사용자를 위한 설명서입니다. 실제 프로그램의 연습용 메일 화면을 보며 순서대로 따라 합니다. 입력 EML과 첨부파일 원본은 수정하지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이메일 파일을 준비하고, 받은 프로그램의 압축을 모두 풉니다.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프로그램 압축 파일을 마우스 오른쪽 버튼으로 누르고 압축을 모두 풉니다.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압축을 푼 폴더에서 run.bat을 찾습니다. 프로그램은 이 파일로 시작합니다.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작업할 이메일을 .eml 파일로 준비합니다. 파일이 없다면 다음의 샘플 연습부터 해도 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EML은 이메일 한 통을 파일로 보관한 것입니다. 첨부파일도 그 안에 함께 들어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받은 압축 파일의 이름은 EmailTools_v2.0.0_portable.zip입니다. 압축 파일 안에서 바로 실행하지 말고, 먼저 압축을 모두 풀어 주세요.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프로그램을 다른 곳으로 옮길 때는 폴더 전체를 옮깁니다. run.bat만 따로 복사하면 실행에 필요한 다른 파일을 찾지 못합니다.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이메일을 EML로 저장하는 방법은 사용 중인 메일 프로그램마다 다릅니다. 문서 파일만 가지고 있다면, 그 문서가 첨부된 이메일을 EML로 준비해 주세요.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구동 방식은 그대로입니다. run.bat을 실행하면 브라우저에 작업 화면이 열립니다.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압축을 푼 폴더 안의 run.bat을 더블클릭합니다.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예시와 같은 화면이 열리면 준비가 끝났습니다. 함께 열린 검은색 창은 그대로 둡니다.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내장 Python이 127.0.0.1 로컬 서버를 실행합니다. 메일 분석과 저장은 내 컴퓨터에서 처리합니다.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이번 화면 개편으로 실행 방식은 달라지지 않았습니다. run.bat이 내장 Python을 실행하고, 127.0.0.1 로컬 서버의 작업 화면을 브라우저로 엽니다. 상단 소개 문구와 슬로건은 제거했습니다.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작업 화면은 Edge나 Chrome처럼 인터넷을 볼 때 쓰는 프로그램에 열립니다. 주소가 127.0.0.1로 시작해도 정상입니다.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화면이 저절로 열리지 않으면 검은색 창에 표시된 http://로 시작하는 주소 전체를 복사해 주소창에 붙여 넣으세요. 다시 실행했을 때는 새 주소를 사용합니다.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그림: EmailTools 2.0.0의 2026.09.08 화면 개편을 반영한 실제 연습용 메일 화면.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화면의 ‘어떤 작업을 할까요?’에서 이번에 할 일을 고릅니다.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표를 모아 Excel로 만들려면 ‘표 취합’을 누릅니다.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메일 내용과 첨부파일을 보관하려면 ‘첨부 보관’을 누릅니다.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모두 필요하면 ‘전체 처리’를 누릅니다. 세부 항목도 직접 체크할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할 일을 먼저 고른 뒤 메일을 불러오세요. 불러오는 즉시 선택한 내용으로 작업을 시작합니다.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‘메일 정보·본문 저장’은 메일 제목, 보낸 사람, 본문 등을 글자 파일로 보관합니다. ‘첨부파일 원본 저장’은 받은 문서를 원래 형식으로 보관합니다.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‘첨부 내용 텍스트 추출’은 첨부 문서에서 글자를 읽어 따로 보관하는 기능입니다. ‘표 추출 및 Excel 생성’은 항목을 찾아 하나의 표로 모으는 기능입니다.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표를 가져올 곳은 ‘HTML 본문’과 ‘DOCX 첨부’ 중에서 고릅니다. HTML 본문은 메일 내용 안의 표, DOCX 첨부는 Word 문서 안의 표를 뜻합니다.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그림: EmailTools 2.0.0의 2026.09.08 화면 개편을 반영한 실제 연습용 메일 화면.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샘플 메일 3개로 먼저 연습합니다. 자신의 메일은 준비하지 않아도 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‘표 취합’을 눌러 표 만들기를 선택합니다.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‘메일 불러오기’ 제목 옆의 ‘샘플로 체험하기’를 누릅니다.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연습 목표는 ‘교육일’을 빼고 ‘검토 상태’를 더해 Excel로 저장하는 것입니다.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샘플은 교육 결과를 회신받은 상황을 가정한 연습용 자료입니다.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샘플을 불러오면 교육명, 강사, 교육일 같은 항목을 모아 보여 줍니다. 다음 페이지부터 차례대로 따라 해 보세요.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그림: EmailTools 2.0.0의 2026.09.08 화면 개편을 반영한 실제 연습용 메일 화면.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샘플을 읽은 뒤에는 메일 3개와 발견한 항목 7개가 표시됩니다.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‘불러온 메일’에서 메일 수가 3인지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‘표 미리보기’를 눌러 표를 봅니다. 이메일 한 통이 표의 가로 한 줄이 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‘확인이 필요한 메일’의 1은 샘플에 Word 첨부가 없는 메일이 한 통 있다는 뜻입니다.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‘열’은 교육명, 강사처럼 위아래로 이어지는 한 항목입니다. ‘행’은 메일 한 통에 해당하는 가로 한 줄입니다.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‘발견한 항목’은 메일에서 찾아낸 표 항목의 수입니다. ‘저장할 열’에는 메일 제목 등 기본 정보가 포함될 수 있어 두 숫자가 다를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표 아래 화살표로 다음 25개 행을 볼 수 있습니다. 저장할 때는 화면에 보이는 페이지만이 아니라 모든 행을 저장합니다.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그림: EmailTools 2.0.0의 2026.09.08 화면 개편을 반영한 실제 연습용 메일 화면.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‘열 구성’에서 저장할 항목을 고릅니다. 좁은 창에서는 표 위에 표시됩니다.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‘추출 항목만’을 누르면 메일 제목 같은 기본 정보를 빼고 표에서 찾은 항목만 남깁니다.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‘교육일’ 앞의 체크를 해제합니다.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오른쪽 표에서 교육일이 빠졌는지 확인합니다. 다시 체크하면 원래 값이 돌아옵니다.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체크를 해제해도 원래 메일이나 첨부파일은 바뀌지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찾는 항목이 안 보이면 ‘열 이름 검색’에 이름을 입력합니다. 검색은 목록에서 찾기 쉽게 해 주는 기능이며, 검색 결과에 안 보이는 항목을 자동으로 빼지는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‘전체 선택’은 모두 포함하고, ‘전체 해제’는 모두 뺍니다. 저장할 표에는 항목을 하나 이상 남겨야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열 설정이 보이지 않으면 표 위의 ‘열 설정 펼치기’를 누릅니다. 넓은 창에서는 왼쪽에, 좁은 창에서는 미리보기 위에 나타납니다.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그림: EmailTools 2.0.0의 2026.09.08 화면 개편을 반영한 실제 연습용 메일 화면.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교육일을 빼면 저장할 항목은 6개가 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오른쪽의 ‘저장할 표’가 선택되어 있는지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교육명 다음에 강사가 보이고, 교육일 항목은 없는지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긴 내용은 칸을 누르면 크게 볼 수 있습니다. 빈 값은 화면에서 ‘—’로 보입니다.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교육일이 빠져 6개 항목이 남았습니다. 긴 내용은 칸을 누르면 크게 볼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그림: EmailTools 2.0.0의 2026.09.08 화면 개편을 반영한 실제 연습용 메일 화면.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받은 메일에 없던 관리용 항목을 추가할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왼쪽 아래 ‘＋ 사용자 열 추가’를 누릅니다.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‘열 이름’에는 ‘검토 상태’, ‘공통 기본값’에는 ‘검토 대기’를 입력합니다.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‘미리보기에 반영’을 누릅니다. 모든 메일 줄에 같은 값이 들어갑니다.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공통 기본값은 모든 줄에 똑같이 넣을 내용입니다. 비워 두면 빈 항목을 추가합니다.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예를 들어 ‘담당자’, ‘비고’ 같은 항목도 추가할 수 있습니다. 이름은 이미 있는 항목과 겹치지 않게 정합니다. 체크를 해제한 항목의 이름도 중복으로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메일마다 서로 다른 담당자나 검토 결과를 적으려면 일단 빈 항목으로 추가하고, 저장한 Excel에서 각 줄을 수정하세요.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그림: EmailTools 2.0.0의 2026.09.08 화면 개편을 반영한 실제 연습용 메일 화면.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새로 추가한 항목에는 ‘추가’ 표시가 붙습니다.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‘검토 상태’ 오른쪽의 위쪽 화살표를 한 번 누릅니다.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‘참석 인원’ 앞에 검토 상태가 놓였는지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추가한 항목의 이름이나 공통값을 바꾸려면 연필 모양을 누릅니다.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체크하지 않은 항목도 순서에 포함되므로, 원하는 위치까지 여러 번 이동해야 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처음 상태로 되돌리려면 ‘초기화’를 누릅니다. 추가한 항목은 없어지고, 처음 불러온 모든 항목과 순서가 돌아옵니다.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그림: EmailTools 2.0.0의 2026.09.08 화면 개편을 반영한 실제 연습용 메일 화면.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연습을 마치면 메일 3개, 저장할 항목 7개가 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교육일이 빠지고, 검토 상태에 ‘검토 대기’가 세 줄 모두 들어갔는지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‘원본 전체’를 누르면 편집 전 자료와 비교할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비교한 뒤 ‘저장할 표’로 돌아와 저장할 항목과 순서를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교육일은 빠지고, 검토 상태에는 ‘검토 대기’가 세 줄 모두 들어갔습니다.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‘선택 7열’은 실제로 저장할 항목 수입니다. ‘제외 9열’은 기본 메일 정보 8개와 교육일을 뺀 수이며, ‘추가 1열’은 검토 상태를 뜻합니다.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화면을 새로고침하거나 다른 메일을 불러오면 열 설정은 처음 상태로 돌아갑니다. 작업이 끝났다면 먼저 결과를 저장하세요.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그림: EmailTools 2.0.0의 2026.09.08 화면 개편을 반영한 실제 연습용 메일 화면.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‘원본 전체’는 처음 불러온 항목을 모두 보여 주는 화면입니다.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오른쪽 위 ‘원본 전체’를 눌러 항목을 빼기 전의 자료를 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비교한 뒤 ‘저장할 표’로 돌아옵니다. 항목과 순서를 확인하고 저장합니다.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‘원본 전체’를 보고 있어도 저장은 자신이 선택한 항목과 순서대로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 화면에서는 가로로 길게 이어지는 항목을 스크롤해 볼 수 있습니다. 화면을 비교하는 것만으로 저장할 항목 선택이 바뀌지는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그림: EmailTools 2.0.0의 2026.09.08 화면 개편을 반영한 실제 연습용 메일 화면.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아래의 ‘결과 저장 위치’는 파일을 보관할 폴더 주소입니다.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처음에는 프로그램이 제안한 저장 위치를 그대로 사용해도 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다른 곳에 보관하려면 원하는 폴더의 주소를 입력합니다.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오른쪽 아래 ‘결과 저장’을 누릅니다.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그림 속 경로는 연습용입니다. 실제 화면에 표시된 자신의 저장 위치를 확인하세요.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‘폴더 선택’이나 ‘EML 파일 선택’, 샘플로 불러왔을 때는 보통 사용자 폴더의 Downloads 안에 있는 EmailTools 폴더를 제안합니다.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메일이 있는 폴더 주소를 직접 입력해 불러왔다면 그 폴더 아래의 _EML_OUTPUT을 제안합니다.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저장 위치를 직접 바꾼 뒤에는 다른 메일을 불러와도 그 위치가 유지될 수 있습니다. 저장하기 전에 한 번 더 확인하세요.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저장 위치를 비우면 내려받기만 제공합니다. 이때는 필요한 파일을 꼭 내려받아 보관한 뒤 프로그램을 종료하세요.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그림: EmailTools 2.0.0의 2026.09.08 화면 개편을 반영한 실제 연습용 메일 화면.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저장을 마치면 완료 안내와 다시 받을 수 있는 버튼이 나타납니다.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내려받은 EML_Table_Result.xlsx를 열고 아래쪽 ‘Result’ 시트를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연습 결과에 3개 줄과 7개 항목이 있는지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다운로드 파일을 찾기 어렵다면 ‘Excel 다시 받기’를 누르거나 안내된 저장 폴더를 엽니다.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저장 위치를 지정했다면 폴더 저장과 다운로드가 함께 진행됩니다. 두 곳에 파일이 생겨도 정상입니다.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‘전체 결과 ZIP’은 결과 파일들을 하나로 묶은 압축 파일입니다. ‘처리 로그 받기’는 작업 중 있었던 일이나 오류를 적은 기록 파일을 받는 기능입니다.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저장을 다시 누르면 날짜와 시각이 붙은 새 폴더를 만듭니다. 이전 결과는 덮어쓰지 않습니다. 같은 파일을 다시 받고 싶을 때는 다시 받기 버튼을 사용하세요.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그림: EmailTools 2.0.0의 2026.09.08 화면 개편을 반영한 실제 연습용 메일 화면.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연습이 끝났다면 실제로 작업할 EML 파일을 선택합니다.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할 일을 먼저 고릅니다. 표를 모으려면 ‘표 취합’을 선택합니다.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폴더 안의 메일을 모두 읽으려면 ‘폴더 선택’, 일부만 고르려면 ‘EML 파일 선택’을 누릅니다.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메일을 다 읽으면 개수를 확인하고, 연습한 방법으로 항목을 고른 뒤 저장합니다.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 메일을 불러오면 이전에 고른 항목과 추가한 항목은 처음 상태로 돌아갑니다.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폴더를 고르면 그 안의 하위 폴더도 함께 읽습니다. EML 파일을 화면의 메일 불러오기 영역에 끌어 놓아도 됩니다. 폴더는 ‘폴더 선택’ 버튼을 쓰는 편이 간단합니다.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한 번에 파일 5,000개 또는 전체 용량 64 MB를 넘는다는 안내가 나오면, 폴더 주소를 위 입력칸에 붙여 넣고 ‘불러오기’를 누릅니다.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이메일 화면을 찍은 사진이나 Word 파일만으로는 시작할 수 없습니다. 입력 파일은 .eml이어야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그림: EmailTools 2.0.0의 2026.09.08 화면 개편을 반영한 실제 연습용 메일 화면.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여러 사람이 메일 본문이나 Word 첨부로 보낸 교육 결과를 한 표로 정리합니다.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회신받은 메일을 한 폴더에 .eml 파일로 모으고, ‘표 취합’을 선택합니다.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메일 본문 표와 Word 첨부 표 중 필요한 곳을 체크하고, 그 메일 폴더를 불러옵니다.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교육명과 강사 등 필요한 항목을 남기고 ‘검토 상태’를 추가한 뒤 Excel로 저장합니다.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같은 업무 양식의 메일을 모으면 항목을 비교하기 쉽습니다. 처음에는 메일 몇 통으로 결과를 확인해 보세요.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예를 들어 원래 표에 ‘교육명 | AI 업무 활용’, ‘강사 | 김민지’처럼 항목과 값이 짝을 이루고 있으면, 결과에서는 교육명과 강사가 각각 하나의 열이 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Word 첨부에만 표가 있다면 ‘HTML 본문’을 해제해도 됩니다. 반대로 메일 본문에만 표가 있다면 ‘DOCX 첨부’를 해제합니다.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항목명이 다른 값은 자동으로 같은 항목으로 합치지 않습니다. ‘교육기간’과 ‘교육 기간’처럼 이름이 다르면 따로 보일 수 있습니다. 한 항목에 다른 값이 여러 개 있으면 구분해서 함께 보여 줍니다.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메일 내용과 첨부 문서를 함께 모아 보관할 때 사용합니다.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‘첨부 보관’을 누릅니다. 메일 내용 저장과 첨부파일 저장이 함께 선택됩니다.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메일을 불러온 뒤 ‘메일 요약’과 ‘첨부파일’을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‘결과 저장’을 누르고 내려받은 EmailTools_Result.zip의 압축을 풉니다.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첨부파일만 필요하면 ‘메일 정보·본문 저장’의 체크를 해제한 뒤 메일을 불러옵니다.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압축을 푼 결과의 mails 폴더 안에 메일별 폴더가 있습니다. mail.txt는 메일 내용, attachments 폴더는 첨부파일입니다.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같은 이름의 첨부가 있으면 프로그램이 번호를 붙여 구분합니다. 받은 파일이 서로 덮어써지지 않도록 하기 위한 동작입니다.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그림: EmailTools 2.0.0의 2026.09.08 화면 개편을 반영한 실제 연습용 메일 화면.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어느 메일에 어떤 문서가 들어 있는지 확인하는 화면입니다.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‘첨부파일’을 누릅니다.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‘메일’과 ‘첨부파일’에서 이름을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목록을 확인했다면 ‘결과 저장’을 눌러 파일을 보관합니다.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목록에 보이는 것만으로 파일을 저장한 것은 아닙니다. 저장 버튼까지 눌러야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‘not requested’는 문서의 글자를 읽는 기능을 선택하지 않았다는 뜻입니다. 첨부파일 보관만 할 때는 오류가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‘형식’ 열에 긴 영문이 보여도 파일 종류를 나타내는 정보이므로 직접 입력하거나 수정할 필요가 없습니다.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그림: EmailTools 2.0.0의 2026.09.08 화면 개편을 반영한 실제 연습용 메일 화면.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첨부 문서의 글자를 읽어 별도의 텍스트 파일로 보관할 때 사용합니다.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‘첨부 내용 텍스트 추출’을 체크하고, 필요 없는 다른 항목은 해제합니다.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메일을 불러온 뒤 ‘첨부파일’을 누릅니다.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‘추출 내용’의 칸을 눌러 읽어 온 글자를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표 만들기와는 별개의 기능입니다. 이 기능만 선택하면 Excel 표는 만들지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Word, Excel, PowerPoint, PDF와 일반 글자 파일 등을 읽을 수 있습니다. 스캔한 이미지로만 된 PDF의 글자는 읽지 못합니다.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첨부 원본까지 함께 보관하고 싶다면 ‘첨부파일 원본 저장’도 체크하세요.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그림: EmailTools 2.0.0의 2026.09.08 화면 개편을 반영한 실제 연습용 메일 화면.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긴 글은 별도 창에서 확인할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문서에서 읽은 내용이 맞는지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오른쪽 위의 X로 내용 창을 닫습니다.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‘결과 저장’을 누릅니다. 결과의 mails 안에 있는 메일별 text 폴더에서 글자 파일을 찾습니다.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‘unsupported’는 이 형식의 글자를 읽는 기능을 지원하지 않는다는 뜻입니다.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글자를 읽지 못해도 첨부 원본 저장을 함께 선택했다면 받은 파일 자체는 보관할 수 있습니다. 암호가 걸리거나 손상된 문서는 읽지 못할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그림: EmailTools 2.0.0의 2026.09.08 화면 개편을 반영한 실제 연습용 메일 화면.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메일 내용, 첨부파일, 문서의 글자와 Excel 표가 모두 필요할 때 사용합니다.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‘전체 처리’를 누르고 메일을 불러옵니다.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메일 요약, 첨부파일 목록과 표 미리보기를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필요한 열을 고른 뒤 저장합니다. 내려받은 ZIP 안에 선택한 결과가 함께 들어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표만 선택하면 Excel을 내려받고, 다른 저장 작업도 선택하면 결과를 ZIP으로 묶어 내려받습니다.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결과의 tables 폴더에는 Excel 표, mails 폴더에는 메일별 자료가 있습니다. summary.csv는 메일 처리 요약, attachments.csv는 첨부 목록, processing.log는 처리 기록입니다. 필요한 결과를 찾는 데 사용하세요.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그림: EmailTools 2.0.0의 2026.09.08 화면 개편을 반영한 실제 연습용 메일 화면.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체크만 바꾸면 기존 화면은 이전 결과를 계속 보여 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실행 옵션에서 새로 할 일을 선택합니다.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‘선택한 옵션으로 다시 분석’을 누릅니다. 같은 메일을 새 선택으로 다시 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읽기를 마치면 필요한 항목을 다시 고르고 저장합니다.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다시 분석하면 항목 선택, 순서, 추가한 항목이 처음 상태로 돌아갑니다.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다시 분석하기 전까지는 잘못된 결과를 저장하지 않도록 저장 버튼을 사용할 수 없게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분석 중에는 ‘분석 중지’를 누를 수 있습니다. 현재 읽는 메일을 마친 뒤 멈출 수 있으므로 잠시 기다려 주세요. 중지한 결과는 저장할 수 없고, 메일을 다시 불러와야 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그림: EmailTools 2.0.0의 2026.09.08 화면 개편을 반영한 실제 연습용 메일 화면.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노란 느낌표는 확인할 내용이 있다는 안내입니다.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표의 줄 번호 아래에 있는 느낌표를 누릅니다.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‘NO DOCX’는 Word 첨부가 없다는 뜻입니다. 메일 본문에서 찾은 값은 사용할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본문 표만 필요했다면 ‘DOCX 첨부’를 해제하고 다시 분석합니다.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샘플의 세 번째 메일에는 Word 첨부가 없으므로 이 안내가 나오는 것이 정상입니다.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‘NO EMAIL TABLE’은 메일 본문에서 사용할 표를 찾지 못했다는 뜻입니다. ‘NO DOCX TABLE’은 Word 첨부 안에서 표를 찾지 못했다는 뜻입니다.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‘PARSE ERROR’처럼 ERROR가 들어간 안내는 읽는 중 문제가 생겼다는 뜻입니다. ‘메일 요약’의 오류 내용이나 처리 기록을 확인하세요. 다른 메일의 작업은 계속합니다.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그림: EmailTools 2.0.0의 2026.09.08 화면 개편을 반영한 실제 연습용 메일 화면.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화면 위의 안내 문구부터 확인하면 원인을 찾기 쉽습니다.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저장 버튼이 흐리면 읽기가 끝났는지, 선택을 바꾼 뒤 다시 분석했는지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표의 항목을 모두 뺐다면 하나 이상 다시 체크합니다.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표 미리보기를 누를 수 없다면 ‘표 추출 및 Excel 생성’을 체크하고 다시 분석합니다.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새로고침하면 항목 설정이 처음 상태로 돌아갑니다. 이미 저장한 결과 파일은 그대로 남습니다.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‘EML 파일이 없습니다’라는 안내가 나오면 고른 폴더에 .eml 파일이 있는지 확인합니다. ZIP 파일은 먼저 압축을 풀고, 폴더를 불러오세요.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저장 중 오류가 나면 저장 위치에 파일을 쓸 수 있는지와 남은 디스크 공간을 확인합니다. 다른 폴더로 바꿔 저장해 볼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프로그램에 연결할 수 없다는 안내가 나오면 검은색 실행 창이 닫혔는지 확인합니다. run.bat을 다시 실행한 뒤 새로 열린 작업 화면을 사용하세요.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해결이 어렵다면 선택한 작업, 안내 문구, 문제가 난 파일명과 processing.log를 담당자에게 전달하면 확인하는 데 도움이 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메일 본문이나 Word 첨부에 들어 있는 ‘항목과 값’ 형태의 표를 모읍니다.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예: ‘교육명 / AI 업무 활용’, ‘강사 / 김민지’처럼 항목 옆에 값이 있는 표를 사용합니다.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사진 속 표나 스캔한 표는 읽지 못합니다. PDF·Excel·PowerPoint의 표도 이 표 모으기 기능의 대상은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항목의 값이나 사람마다 다른 검토 결과를 고치려면 저장한 Excel에서 수정합니다.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Word 파일은 이름 끝이 .docx인 문서입니다. .doc처럼 다른 형식의 문서는 표 읽기 대상이 아닙니다.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Excel·PowerPoint·PDF 문서의 글자를 읽는 기능은 별도로 사용할 수 있습니다. ‘표를 모으기’와 ‘글자를 읽기’는 지원 범위가 다릅니다.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처음 사용한 항목으로 되돌리고 싶다면 ‘초기화’를 누릅니다. 새로 추가한 항목은 함께 없어집니다. 항목 설정을 다음 실행까지 자동으로 기억하는 기능은 현재 없습니다.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필요한 파일을 보관한 뒤 프로그램을 종료합니다.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저장한 Excel이나 ZIP을 열어 필요한 자료가 있는지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화면 오른쪽 위 ‘프로그램 종료’를 누르고 종료 확인에 응답합니다.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프로그램이 종료되었다는 안내가 나오면 작업 화면을 닫습니다.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인터넷 창만 닫으면 프로그램은 계속 켜져 있습니다. ‘프로그램 종료’ 버튼으로 마치세요.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저장 위치를 비워 두고 작업했다면 필요한 파일을 내려받았는지 먼저 확인하세요. 종료할 때 임시 자료는 정리됩니다. 저장한 파일은 남습니다.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설명서를 다시 보려면 프로그램 폴더 안의 docs 폴더에서 user-manual.html 또는 EmailTools_User_Manual.pptx를 엽니다.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그림: EmailTools 2.0.0의 2026.09.08 화면 개편을 반영한 실제 연습용 메일 화면.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이제는 프로그램 폴더의 run.bat 하나로 시작하면 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첨부파일을 저장하던 작업은 ‘첨부 보관’에서 시작합니다.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메일의 표를 Excel로 모으던 작업은 ‘표 취합’에서 시작합니다.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파일을 찾을 때는 저장 완료 안내에 나온 폴더를 확인합니다.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이전 프로그램의 바로가기 대신, 새로 받은 통합 프로그램의 run.bat을 사용하세요.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기존 하위 폴더의 실행 파일도 남아 있지만 새 화면을 사용하는 가장 간단한 방법은 프로그램 폴더의 run.bat으로 시작하는 것입니다.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기술적인 명령이나 내부 구조가 필요한 담당자는 프로그램 폴더의 README.md를 참고할 수 있습니다. 일반적인 사용에는 명령어 입력이 필요하지 않습니다.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창 너비에 따라 화면이 자동으로 재배치됩니다. 표를 넓게 보도록 열 설정을 조절할 수 있습니다.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‘열 설정 접기’를 누르면 표가 넓어집니다. 다시 보려면 ‘열 설정 펼치기’를 누릅니다.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넓은 창에서는 열 구성과 표 사이의 세로 막대를 끌어 너비를 조절합니다.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좁은 창에서는 열 구성이 표 위로 이동합니다. 긴 목록과 표는 영역 안에서 스크롤합니다.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막대에 키보드 초점을 두고 좌우 방향키로도 조절할 수 있습니다. 창 크기만 바꿔도 현재 선택은 유지됩니다.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좁은 화면은 같은 PC에서 브라우저 창을 줄인 예시입니다. 실행 방식은 그대로이며 다른 기기에서 서버에 접속하는 기능을 뜻하지 않습니다.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그림: EmailTools 2.0.0의 실제 연습용 메일 화면, 2026.09.08.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8259dcd1a243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2e5e20a1777450d" /><Relationship Type="http://schemas.openxmlformats.org/officeDocument/2006/relationships/slideLayout" Target="/ppt/slideLayouts/slideLayout1.xml" Id="Re4a4e02d6415403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a4e02d6415403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225dac0f34417b" /><Relationship Type="http://schemas.openxmlformats.org/officeDocument/2006/relationships/notesSlide" Target="/ppt/notesSlides/notesSlide1.xml" Id="Race460f1914947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8bb9835af4cab" /><Relationship Type="http://schemas.openxmlformats.org/officeDocument/2006/relationships/notesSlide" Target="/ppt/notesSlides/notesSlide2.xml" Id="Rac854f30ee754c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ab32e70d744e0f" /><Relationship Type="http://schemas.openxmlformats.org/officeDocument/2006/relationships/image" Target="/ppt/media/image.png" Id="Rd42f394eb4e6420d" /><Relationship Type="http://schemas.openxmlformats.org/officeDocument/2006/relationships/notesSlide" Target="/ppt/notesSlides/notesSlide3.xml" Id="Raf8aac97dee246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32cbd2327049cb" /><Relationship Type="http://schemas.openxmlformats.org/officeDocument/2006/relationships/image" Target="/ppt/media/image2.png" Id="R9bae3ff1832e4e75" /><Relationship Type="http://schemas.openxmlformats.org/officeDocument/2006/relationships/notesSlide" Target="/ppt/notesSlides/notesSlide4.xml" Id="R7e409c3fd944494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9cb28d117247a3" /><Relationship Type="http://schemas.openxmlformats.org/officeDocument/2006/relationships/image" Target="/ppt/media/image3.png" Id="Rdbadb10c012d415e" /><Relationship Type="http://schemas.openxmlformats.org/officeDocument/2006/relationships/notesSlide" Target="/ppt/notesSlides/notesSlide5.xml" Id="R425d28a184dc485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6f3168f234814" /><Relationship Type="http://schemas.openxmlformats.org/officeDocument/2006/relationships/image" Target="/ppt/media/image4.png" Id="Rcafc4332979e46a2" /><Relationship Type="http://schemas.openxmlformats.org/officeDocument/2006/relationships/notesSlide" Target="/ppt/notesSlides/notesSlide6.xml" Id="Rca00f2a139e340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9936c239984e0a" /><Relationship Type="http://schemas.openxmlformats.org/officeDocument/2006/relationships/image" Target="/ppt/media/image5.png" Id="R6e7653298a7745c3" /><Relationship Type="http://schemas.openxmlformats.org/officeDocument/2006/relationships/notesSlide" Target="/ppt/notesSlides/notesSlide7.xml" Id="Re1b5af7dac9548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fe5810c8f54e31" /><Relationship Type="http://schemas.openxmlformats.org/officeDocument/2006/relationships/image" Target="/ppt/media/image6.png" Id="R21a1571bbdf941aa" /><Relationship Type="http://schemas.openxmlformats.org/officeDocument/2006/relationships/notesSlide" Target="/ppt/notesSlides/notesSlide8.xml" Id="R0148db61f5c24fb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1026052f54c0e" /><Relationship Type="http://schemas.openxmlformats.org/officeDocument/2006/relationships/image" Target="/ppt/media/image7.png" Id="Re40f8da0d3b04746" /><Relationship Type="http://schemas.openxmlformats.org/officeDocument/2006/relationships/notesSlide" Target="/ppt/notesSlides/notesSlide9.xml" Id="Re1c1d7f7a87e43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4cb7d989542ea" /><Relationship Type="http://schemas.openxmlformats.org/officeDocument/2006/relationships/image" Target="/ppt/media/image8.png" Id="R9d7bc37055df4d0f" /><Relationship Type="http://schemas.openxmlformats.org/officeDocument/2006/relationships/notesSlide" Target="/ppt/notesSlides/notesSlide10.xml" Id="R15295f7c8bdc46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609653796d459a" /><Relationship Type="http://schemas.openxmlformats.org/officeDocument/2006/relationships/image" Target="/ppt/media/image9.png" Id="Rfb7934d9ee934418" /><Relationship Type="http://schemas.openxmlformats.org/officeDocument/2006/relationships/notesSlide" Target="/ppt/notesSlides/notesSlide11.xml" Id="R84531a8a69ee47a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e6747fcc7f4a25" /><Relationship Type="http://schemas.openxmlformats.org/officeDocument/2006/relationships/image" Target="/ppt/media/image10.png" Id="R5fc91fdf5b1f416d" /><Relationship Type="http://schemas.openxmlformats.org/officeDocument/2006/relationships/notesSlide" Target="/ppt/notesSlides/notesSlide12.xml" Id="Rf3e2f9d69318476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808ec6e8ae498a" /><Relationship Type="http://schemas.openxmlformats.org/officeDocument/2006/relationships/image" Target="/ppt/media/image11.png" Id="R799abe8842a649d4" /><Relationship Type="http://schemas.openxmlformats.org/officeDocument/2006/relationships/notesSlide" Target="/ppt/notesSlides/notesSlide13.xml" Id="Rdfb22ab86ae440d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2bd5a774bf4784" /><Relationship Type="http://schemas.openxmlformats.org/officeDocument/2006/relationships/image" Target="/ppt/media/image12.png" Id="Rd4d85472648447bb" /><Relationship Type="http://schemas.openxmlformats.org/officeDocument/2006/relationships/notesSlide" Target="/ppt/notesSlides/notesSlide14.xml" Id="Rb62056856f8b435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8ba64e8004280" /><Relationship Type="http://schemas.openxmlformats.org/officeDocument/2006/relationships/image" Target="/ppt/media/image13.png" Id="Raba9affc36ba4070" /><Relationship Type="http://schemas.openxmlformats.org/officeDocument/2006/relationships/notesSlide" Target="/ppt/notesSlides/notesSlide15.xml" Id="Rebc2784d57a44af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334bf8caf4726" /><Relationship Type="http://schemas.openxmlformats.org/officeDocument/2006/relationships/notesSlide" Target="/ppt/notesSlides/notesSlide16.xml" Id="R97f2387933a947c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9438d81cc1409b" /><Relationship Type="http://schemas.openxmlformats.org/officeDocument/2006/relationships/image" Target="/ppt/media/image14.png" Id="Rebd85eac94a24d62" /><Relationship Type="http://schemas.openxmlformats.org/officeDocument/2006/relationships/notesSlide" Target="/ppt/notesSlides/notesSlide17.xml" Id="Rf505292b2e08496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aa9afa104d430e" /><Relationship Type="http://schemas.openxmlformats.org/officeDocument/2006/relationships/image" Target="/ppt/media/image15.png" Id="R4ac0f39ecaf84170" /><Relationship Type="http://schemas.openxmlformats.org/officeDocument/2006/relationships/notesSlide" Target="/ppt/notesSlides/notesSlide18.xml" Id="R62c7446931ab49c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3353a554eb4224" /><Relationship Type="http://schemas.openxmlformats.org/officeDocument/2006/relationships/image" Target="/ppt/media/image16.png" Id="R8d119e821bd1416c" /><Relationship Type="http://schemas.openxmlformats.org/officeDocument/2006/relationships/notesSlide" Target="/ppt/notesSlides/notesSlide19.xml" Id="Re1f5ec67f80e40f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1c730bb224485" /><Relationship Type="http://schemas.openxmlformats.org/officeDocument/2006/relationships/image" Target="/ppt/media/image17.png" Id="R8913f746d4a045d8" /><Relationship Type="http://schemas.openxmlformats.org/officeDocument/2006/relationships/notesSlide" Target="/ppt/notesSlides/notesSlide20.xml" Id="Re687a985fd984db7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593c50691447d" /><Relationship Type="http://schemas.openxmlformats.org/officeDocument/2006/relationships/image" Target="/ppt/media/image18.png" Id="R1e690fee6ec24544" /><Relationship Type="http://schemas.openxmlformats.org/officeDocument/2006/relationships/notesSlide" Target="/ppt/notesSlides/notesSlide21.xml" Id="Rd826148790514667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cd276f1d34125" /><Relationship Type="http://schemas.openxmlformats.org/officeDocument/2006/relationships/image" Target="/ppt/media/image19.png" Id="R1ab92a19846a47ff" /><Relationship Type="http://schemas.openxmlformats.org/officeDocument/2006/relationships/notesSlide" Target="/ppt/notesSlides/notesSlide22.xml" Id="R5e42f1eb270e44e6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41a3fc9f3f42a7" /><Relationship Type="http://schemas.openxmlformats.org/officeDocument/2006/relationships/image" Target="/ppt/media/image20.png" Id="Rec071bbb32c240ba" /><Relationship Type="http://schemas.openxmlformats.org/officeDocument/2006/relationships/notesSlide" Target="/ppt/notesSlides/notesSlide23.xml" Id="R8820c9862e6b4ba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7adb9f24354993" /><Relationship Type="http://schemas.openxmlformats.org/officeDocument/2006/relationships/notesSlide" Target="/ppt/notesSlides/notesSlide24.xml" Id="Rf3176e584dff4e6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f5a30bde741b6" /><Relationship Type="http://schemas.openxmlformats.org/officeDocument/2006/relationships/notesSlide" Target="/ppt/notesSlides/notesSlide25.xml" Id="R4b0833d4ed91432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ed6a3039f1478a" /><Relationship Type="http://schemas.openxmlformats.org/officeDocument/2006/relationships/image" Target="/ppt/media/image21.png" Id="R85ef027d6c534178" /><Relationship Type="http://schemas.openxmlformats.org/officeDocument/2006/relationships/notesSlide" Target="/ppt/notesSlides/notesSlide26.xml" Id="Rd3e0bd012847424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f6e8c91d849c1" /><Relationship Type="http://schemas.openxmlformats.org/officeDocument/2006/relationships/notesSlide" Target="/ppt/notesSlides/notesSlide27.xml" Id="R9e4af4c68135458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a3238c96941de" /><Relationship Type="http://schemas.openxmlformats.org/officeDocument/2006/relationships/image" Target="/ppt/media/image22.png" Id="Rb0618246c77148c4" /><Relationship Type="http://schemas.openxmlformats.org/officeDocument/2006/relationships/notesSlide" Target="/ppt/notesSlides/notesSlide28.xml" Id="R555bed58017a49d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B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product">
            <a:extLst xmlns:a="http://schemas.openxmlformats.org/drawingml/2006/main">
              <a:ext uri="{FF2B5EF4-FFF2-40B4-BE49-F238E27FC236}">
                <a16:creationId xmlns:a16="http://schemas.microsoft.com/office/drawing/2014/main" id="{2E573F20-CCD5-4228-B886-8335AF81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143000"/>
            <a:ext cx="1314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900" b="0">
                <a:solidFill>
                  <a:srgbClr val="BBD9DA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0">
                <a:solidFill>
                  <a:srgbClr val="BBD9DA"/>
                </a:solidFill>
                <a:latin typeface="Malgun Gothic"/>
                <a:ea typeface="Malgun Gothic"/>
                <a:cs typeface="Malgun Gothic"/>
              </a:rPr>
              <a:t>EmailTools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BC6F588-20E2-4073-B78D-AA809DFE2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76500"/>
            <a:ext cx="1314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7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7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사용 설명서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8AB6A235-3781-41DB-9B12-1479BA10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43400"/>
            <a:ext cx="1314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프로그램 실행부터 메일 정리와 표 만들기까지</a:t>
            </a:r>
          </a:p>
        </p:txBody>
      </p:sp>
      <p:sp>
        <p:nvSpPr>
          <p:cNvPr id="4" name="cover-audience">
            <a:extLst xmlns:a="http://schemas.openxmlformats.org/drawingml/2006/main">
              <a:ext uri="{FF2B5EF4-FFF2-40B4-BE49-F238E27FC236}">
                <a16:creationId xmlns:a16="http://schemas.microsoft.com/office/drawing/2014/main" id="{C2914651-9A32-4ADD-99D3-58857B593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38750"/>
            <a:ext cx="1314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0">
                <a:solidFill>
                  <a:srgbClr val="CEE3E5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CEE3E5"/>
                </a:solidFill>
                <a:latin typeface="Malgun Gothic"/>
                <a:ea typeface="Malgun Gothic"/>
                <a:cs typeface="Malgun Gothic"/>
              </a:rPr>
              <a:t>처음 쓰는 분을 위한 화면 안내</a:t>
            </a:r>
          </a:p>
        </p:txBody>
      </p:sp>
      <p:sp>
        <p:nvSpPr>
          <p:cNvPr id="5" name="cover-version">
            <a:extLst xmlns:a="http://schemas.openxmlformats.org/drawingml/2006/main">
              <a:ext uri="{FF2B5EF4-FFF2-40B4-BE49-F238E27FC236}">
                <a16:creationId xmlns:a16="http://schemas.microsoft.com/office/drawing/2014/main" id="{33F669BF-FCE6-4635-AE60-E290F6DF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429500"/>
            <a:ext cx="1285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0">
                <a:solidFill>
                  <a:srgbClr val="CEE3E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CEE3E5"/>
                </a:solidFill>
                <a:latin typeface="Malgun Gothic"/>
                <a:ea typeface="Malgun Gothic"/>
                <a:cs typeface="Malgun Gothic"/>
              </a:rPr>
              <a:t>버전 2.0.0   /   화면 개편 반영 2026.09.08</a:t>
            </a:r>
          </a:p>
        </p:txBody>
      </p:sp>
    </p:spTree>
    <p:extLst>
      <p:ext uri="{BB962C8B-B14F-4D97-AF65-F5344CB8AC3E}">
        <p14:creationId xmlns:p14="http://schemas.microsoft.com/office/powerpoint/2010/main" val="3929019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hapter">
            <a:extLst xmlns:a="http://schemas.openxmlformats.org/drawingml/2006/main">
              <a:ext uri="{FF2B5EF4-FFF2-40B4-BE49-F238E27FC236}">
                <a16:creationId xmlns:a16="http://schemas.microsoft.com/office/drawing/2014/main" id="{B2955594-7417-49FC-95EB-9ED63EB0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71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처음 시작하기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A33BABA-5B9A-407E-B49B-AEDC55D5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rPr>
              <a:t>시작 전에 준비할 것</a:t>
            </a:r>
          </a:p>
        </p:txBody>
      </p:sp>
      <p:sp>
        <p:nvSpPr>
          <p:cNvPr id="3" name="lede">
            <a:extLst xmlns:a="http://schemas.openxmlformats.org/drawingml/2006/main">
              <a:ext uri="{FF2B5EF4-FFF2-40B4-BE49-F238E27FC236}">
                <a16:creationId xmlns:a16="http://schemas.microsoft.com/office/drawing/2014/main" id="{9F317071-43A2-4EB2-8653-4FF16836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이메일 파일을 준비하고, 받은 프로그램의 압축을 모두 풉니다.</a:t>
            </a:r>
          </a:p>
        </p:txBody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0F3BA01C-81C5-4FE1-BD50-CCDA9D0F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1314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1. 프로그램 압축 파일을 마우스 오른쪽 버튼으로 누르고 압축을 모두 풉니다.</a:t>
            </a:r>
          </a:p>
        </p:txBody>
      </p:sp>
      <p:sp>
        <p:nvSpPr>
          <p:cNvPr id="5" name="step-2">
            <a:extLst xmlns:a="http://schemas.openxmlformats.org/drawingml/2006/main">
              <a:ext uri="{FF2B5EF4-FFF2-40B4-BE49-F238E27FC236}">
                <a16:creationId xmlns:a16="http://schemas.microsoft.com/office/drawing/2014/main" id="{DA69C83A-4357-4424-BB4A-386CFE44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00525"/>
            <a:ext cx="1314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2. 압축을 푼 폴더에서 run.bat을 찾습니다. 프로그램은 이 파일로 시작합니다.</a:t>
            </a:r>
          </a:p>
        </p:txBody>
      </p:sp>
      <p:sp>
        <p:nvSpPr>
          <p:cNvPr id="6" name="step-3">
            <a:extLst xmlns:a="http://schemas.openxmlformats.org/drawingml/2006/main">
              <a:ext uri="{FF2B5EF4-FFF2-40B4-BE49-F238E27FC236}">
                <a16:creationId xmlns:a16="http://schemas.microsoft.com/office/drawing/2014/main" id="{23A2928F-3A13-465B-8639-F17840BB2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1314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3. 작업할 이메일을 .eml 파일로 준비합니다. 파일이 없다면 다음의 샘플 연습부터 해도 됩니다.</a:t>
            </a:r>
          </a:p>
        </p:txBody>
      </p:sp>
      <p:sp>
        <p:nvSpPr>
          <p:cNvPr id="7" name="remember">
            <a:extLst xmlns:a="http://schemas.openxmlformats.org/drawingml/2006/main">
              <a:ext uri="{FF2B5EF4-FFF2-40B4-BE49-F238E27FC236}">
                <a16:creationId xmlns:a16="http://schemas.microsoft.com/office/drawing/2014/main" id="{506403C5-6F6F-4F5B-BF5E-E6AD00C92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62875"/>
            <a:ext cx="1323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EML은 이메일 한 통을 파일로 보관한 것입니다. 첨부파일도 그 안에 함께 들어 있습니다.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591037DB-F089-423F-A3CD-640D966C8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867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176048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hapter">
            <a:extLst xmlns:a="http://schemas.openxmlformats.org/drawingml/2006/main">
              <a:ext uri="{FF2B5EF4-FFF2-40B4-BE49-F238E27FC236}">
                <a16:creationId xmlns:a16="http://schemas.microsoft.com/office/drawing/2014/main" id="{15E284E8-6270-4E0A-A1B5-B42747C75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71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처음 시작하기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7BFBC59-C37E-47B3-8B98-F387E7E6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rPr>
              <a:t>프로그램 실행</a:t>
            </a:r>
          </a:p>
        </p:txBody>
      </p:sp>
      <p:sp>
        <p:nvSpPr>
          <p:cNvPr id="3" name="lede">
            <a:extLst xmlns:a="http://schemas.openxmlformats.org/drawingml/2006/main">
              <a:ext uri="{FF2B5EF4-FFF2-40B4-BE49-F238E27FC236}">
                <a16:creationId xmlns:a16="http://schemas.microsoft.com/office/drawing/2014/main" id="{90C88D38-2B10-4EC5-A958-397CB1613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구동 방식은 그대로입니다. run.bat을 실행하면 브라우저에 작업 화면이 열립니다.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2f394eb4e6420d"/>
          <a:stretch xmlns:a="http://schemas.openxmlformats.org/drawingml/2006/main"/>
        </p:blipFill>
        <p:spPr>
          <a:xfrm xmlns:a="http://schemas.openxmlformats.org/drawingml/2006/main">
            <a:off x="1701929" y="2428875"/>
            <a:ext cx="11836142" cy="3238500"/>
          </a:xfrm>
          <a:prstGeom xmlns:a="http://schemas.openxmlformats.org/drawingml/2006/main" prst="rect">
            <a:avLst/>
          </a:prstGeom>
        </p:spPr>
      </p:pic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C38B35EE-CAAE-403A-867C-3A8A4F650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1. 압축을 푼 폴더 안의 run.bat을 더블클릭합니다.</a:t>
            </a:r>
          </a:p>
        </p:txBody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C962B5D8-8B2B-412D-BBBD-1926DDB8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4847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2. 예시와 같은 화면이 열리면 준비가 끝났습니다. 함께 열린 검은색 창은 그대로 둡니다.</a:t>
            </a:r>
          </a:p>
        </p:txBody>
      </p:sp>
      <p:sp>
        <p:nvSpPr>
          <p:cNvPr id="7" name="remember">
            <a:extLst xmlns:a="http://schemas.openxmlformats.org/drawingml/2006/main">
              <a:ext uri="{FF2B5EF4-FFF2-40B4-BE49-F238E27FC236}">
                <a16:creationId xmlns:a16="http://schemas.microsoft.com/office/drawing/2014/main" id="{00D76171-D8AB-4997-ACDE-8F62B161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62875"/>
            <a:ext cx="1323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내장 Python이 127.0.0.1 로컬 서버를 실행합니다. 메일 분석과 저장은 내 컴퓨터에서 처리합니다.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29B44AC7-862C-4539-A4F5-DC267C9B6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867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705553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hapter">
            <a:extLst xmlns:a="http://schemas.openxmlformats.org/drawingml/2006/main">
              <a:ext uri="{FF2B5EF4-FFF2-40B4-BE49-F238E27FC236}">
                <a16:creationId xmlns:a16="http://schemas.microsoft.com/office/drawing/2014/main" id="{AE35359E-C2AD-4EE4-87F3-D9D2CA27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71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처음 시작하기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9F6EE67-806B-4720-8874-33618947F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rPr>
              <a:t>할 일 선택</a:t>
            </a:r>
          </a:p>
        </p:txBody>
      </p:sp>
      <p:sp>
        <p:nvSpPr>
          <p:cNvPr id="3" name="lede">
            <a:extLst xmlns:a="http://schemas.openxmlformats.org/drawingml/2006/main">
              <a:ext uri="{FF2B5EF4-FFF2-40B4-BE49-F238E27FC236}">
                <a16:creationId xmlns:a16="http://schemas.microsoft.com/office/drawing/2014/main" id="{6330C9B8-AF07-474D-8BB9-06DFDA32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화면의 ‘어떤 작업을 할까요?’에서 이번에 할 일을 고릅니다.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e3ff1832e4e75"/>
          <a:stretch xmlns:a="http://schemas.openxmlformats.org/drawingml/2006/main"/>
        </p:blipFill>
        <p:spPr>
          <a:xfrm xmlns:a="http://schemas.openxmlformats.org/drawingml/2006/main">
            <a:off x="4548035" y="2428875"/>
            <a:ext cx="6143930" cy="2381250"/>
          </a:xfrm>
          <a:prstGeom xmlns:a="http://schemas.openxmlformats.org/drawingml/2006/main" prst="rect">
            <a:avLst/>
          </a:prstGeom>
        </p:spPr>
      </p:pic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76B59F4A-016A-40F9-B6A6-9666DA74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1. 표를 모아 Excel로 만들려면 ‘표 취합’을 누릅니다.</a:t>
            </a:r>
          </a:p>
        </p:txBody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6EC42A28-AC7F-48A6-8C8F-4D17D23E8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9122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2. 메일 내용과 첨부파일을 보관하려면 ‘첨부 보관’을 누릅니다.</a:t>
            </a:r>
          </a:p>
        </p:txBody>
      </p:sp>
      <p:sp>
        <p:nvSpPr>
          <p:cNvPr id="7" name="step-3">
            <a:extLst xmlns:a="http://schemas.openxmlformats.org/drawingml/2006/main">
              <a:ext uri="{FF2B5EF4-FFF2-40B4-BE49-F238E27FC236}">
                <a16:creationId xmlns:a16="http://schemas.microsoft.com/office/drawing/2014/main" id="{E9AD113F-C598-4F59-9247-469F7BA84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9132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3. 모두 필요하면 ‘전체 처리’를 누릅니다. 세부 항목도 직접 체크할 수 있습니다.</a:t>
            </a:r>
          </a:p>
        </p:txBody>
      </p:sp>
      <p:sp>
        <p:nvSpPr>
          <p:cNvPr id="8" name="remember">
            <a:extLst xmlns:a="http://schemas.openxmlformats.org/drawingml/2006/main">
              <a:ext uri="{FF2B5EF4-FFF2-40B4-BE49-F238E27FC236}">
                <a16:creationId xmlns:a16="http://schemas.microsoft.com/office/drawing/2014/main" id="{D4F19BF7-FE61-4318-B944-9A3818FDE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62875"/>
            <a:ext cx="1323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할 일을 먼저 고른 뒤 메일을 불러오세요. 불러오는 즉시 선택한 내용으로 작업을 시작합니다.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99A46DA5-BB86-40DC-B236-405D11969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867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537611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hapter">
            <a:extLst xmlns:a="http://schemas.openxmlformats.org/drawingml/2006/main">
              <a:ext uri="{FF2B5EF4-FFF2-40B4-BE49-F238E27FC236}">
                <a16:creationId xmlns:a16="http://schemas.microsoft.com/office/drawing/2014/main" id="{580BD8CD-E38B-48BB-ADBE-BB5E06218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71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샘플로 표 만들기 연습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60883D1-23EE-41ED-B620-B2085991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rPr>
              <a:t>연습용 메일 열기</a:t>
            </a:r>
          </a:p>
        </p:txBody>
      </p:sp>
      <p:sp>
        <p:nvSpPr>
          <p:cNvPr id="3" name="lede">
            <a:extLst xmlns:a="http://schemas.openxmlformats.org/drawingml/2006/main">
              <a:ext uri="{FF2B5EF4-FFF2-40B4-BE49-F238E27FC236}">
                <a16:creationId xmlns:a16="http://schemas.microsoft.com/office/drawing/2014/main" id="{0AD57EC7-04DB-4351-9A11-A59AC92C9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샘플 메일 3개로 먼저 연습합니다. 자신의 메일은 준비하지 않아도 됩니다.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db10c012d415e"/>
          <a:stretch xmlns:a="http://schemas.openxmlformats.org/drawingml/2006/main"/>
        </p:blipFill>
        <p:spPr>
          <a:xfrm xmlns:a="http://schemas.openxmlformats.org/drawingml/2006/main">
            <a:off x="762000" y="2428875"/>
            <a:ext cx="13716000" cy="1277726"/>
          </a:xfrm>
          <a:prstGeom xmlns:a="http://schemas.openxmlformats.org/drawingml/2006/main" prst="rect">
            <a:avLst/>
          </a:prstGeom>
        </p:spPr>
      </p:pic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0D5ADFC0-C95F-43A0-9E96-DBE1B5135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1. ‘표 취합’을 눌러 표 만들기를 선택합니다.</a:t>
            </a:r>
          </a:p>
        </p:txBody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60D6AA6B-007A-42E2-87AB-97DFC768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4347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2. ‘메일 불러오기’ 제목 옆의 ‘샘플로 체험하기’를 누릅니다.</a:t>
            </a:r>
          </a:p>
        </p:txBody>
      </p:sp>
      <p:sp>
        <p:nvSpPr>
          <p:cNvPr id="7" name="step-3">
            <a:extLst xmlns:a="http://schemas.openxmlformats.org/drawingml/2006/main">
              <a:ext uri="{FF2B5EF4-FFF2-40B4-BE49-F238E27FC236}">
                <a16:creationId xmlns:a16="http://schemas.microsoft.com/office/drawing/2014/main" id="{269D9B6F-C65E-4A2E-8490-139AFEBD0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4357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3. 연습 목표는 ‘교육일’을 빼고 ‘검토 상태’를 더해 Excel로 저장하는 것입니다.</a:t>
            </a:r>
          </a:p>
        </p:txBody>
      </p:sp>
      <p:sp>
        <p:nvSpPr>
          <p:cNvPr id="8" name="remember">
            <a:extLst xmlns:a="http://schemas.openxmlformats.org/drawingml/2006/main">
              <a:ext uri="{FF2B5EF4-FFF2-40B4-BE49-F238E27FC236}">
                <a16:creationId xmlns:a16="http://schemas.microsoft.com/office/drawing/2014/main" id="{57E201B9-D4FF-4929-AE53-B0ABE5D4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62875"/>
            <a:ext cx="1323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샘플은 교육 결과를 회신받은 상황을 가정한 연습용 자료입니다.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E2675577-6A3B-43B0-A2C7-733382E18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867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3806894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hapter">
            <a:extLst xmlns:a="http://schemas.openxmlformats.org/drawingml/2006/main">
              <a:ext uri="{FF2B5EF4-FFF2-40B4-BE49-F238E27FC236}">
                <a16:creationId xmlns:a16="http://schemas.microsoft.com/office/drawing/2014/main" id="{80E5F0E3-B020-4D1B-8AFE-02FD34CD2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71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샘플로 표 만들기 연습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E6688EE1-1608-4B64-8637-166F5B81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rPr>
              <a:t>불러온 메일 확인</a:t>
            </a:r>
          </a:p>
        </p:txBody>
      </p:sp>
      <p:sp>
        <p:nvSpPr>
          <p:cNvPr id="3" name="lede">
            <a:extLst xmlns:a="http://schemas.openxmlformats.org/drawingml/2006/main">
              <a:ext uri="{FF2B5EF4-FFF2-40B4-BE49-F238E27FC236}">
                <a16:creationId xmlns:a16="http://schemas.microsoft.com/office/drawing/2014/main" id="{AE79CD8A-CEB1-4587-9133-3866E7BD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샘플을 읽은 뒤에는 메일 3개와 발견한 항목 7개가 표시됩니다.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fc4332979e46a2"/>
          <a:stretch xmlns:a="http://schemas.openxmlformats.org/drawingml/2006/main"/>
        </p:blipFill>
        <p:spPr>
          <a:xfrm xmlns:a="http://schemas.openxmlformats.org/drawingml/2006/main">
            <a:off x="762000" y="2428875"/>
            <a:ext cx="13716000" cy="1626641"/>
          </a:xfrm>
          <a:prstGeom xmlns:a="http://schemas.openxmlformats.org/drawingml/2006/main" prst="rect">
            <a:avLst/>
          </a:prstGeom>
        </p:spPr>
      </p:pic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8DFA1B5B-26FD-45B3-9DAB-368F65539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6516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1. ‘불러온 메일’에서 메일 수가 3인지 확인합니다.</a:t>
            </a:r>
          </a:p>
        </p:txBody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EAB70D3D-6386-47C9-83C3-4D23ADA6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36616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2. ‘표 미리보기’를 눌러 표를 봅니다. 이메일 한 통이 표의 가로 한 줄이 됩니다.</a:t>
            </a:r>
          </a:p>
        </p:txBody>
      </p:sp>
      <p:sp>
        <p:nvSpPr>
          <p:cNvPr id="7" name="step-3">
            <a:extLst xmlns:a="http://schemas.openxmlformats.org/drawingml/2006/main">
              <a:ext uri="{FF2B5EF4-FFF2-40B4-BE49-F238E27FC236}">
                <a16:creationId xmlns:a16="http://schemas.microsoft.com/office/drawing/2014/main" id="{5131C7B9-2195-4274-8F31-D3E018BA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36716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3. ‘확인이 필요한 메일’의 1은 샘플에 Word 첨부가 없는 메일이 한 통 있다는 뜻입니다.</a:t>
            </a:r>
          </a:p>
        </p:txBody>
      </p:sp>
      <p:sp>
        <p:nvSpPr>
          <p:cNvPr id="8" name="remember">
            <a:extLst xmlns:a="http://schemas.openxmlformats.org/drawingml/2006/main">
              <a:ext uri="{FF2B5EF4-FFF2-40B4-BE49-F238E27FC236}">
                <a16:creationId xmlns:a16="http://schemas.microsoft.com/office/drawing/2014/main" id="{41B55A40-383D-4087-B224-616016114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62875"/>
            <a:ext cx="1323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‘열’은 교육명, 강사처럼 위아래로 이어지는 한 항목입니다. ‘행’은 메일 한 통에 해당하는 가로 한 줄입니다.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33F76187-43EA-4011-8BF0-CF40C1EE7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867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3374585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hapter">
            <a:extLst xmlns:a="http://schemas.openxmlformats.org/drawingml/2006/main">
              <a:ext uri="{FF2B5EF4-FFF2-40B4-BE49-F238E27FC236}">
                <a16:creationId xmlns:a16="http://schemas.microsoft.com/office/drawing/2014/main" id="{B65D9CEC-432D-4F3B-A0FE-ECCBB2FA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71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샘플로 표 만들기 연습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79A262B-2478-4318-8956-A4980FC1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rPr>
              <a:t>필요 없는 항목 빼기</a:t>
            </a:r>
          </a:p>
        </p:txBody>
      </p:sp>
      <p:sp>
        <p:nvSpPr>
          <p:cNvPr id="3" name="lede">
            <a:extLst xmlns:a="http://schemas.openxmlformats.org/drawingml/2006/main">
              <a:ext uri="{FF2B5EF4-FFF2-40B4-BE49-F238E27FC236}">
                <a16:creationId xmlns:a16="http://schemas.microsoft.com/office/drawing/2014/main" id="{9E5C6805-F1FB-4533-B3AB-E229062FD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‘열 구성’에서 저장할 항목을 고릅니다. 좁은 창에서는 표 위에 표시됩니다.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7653298a7745c3"/>
          <a:stretch xmlns:a="http://schemas.openxmlformats.org/drawingml/2006/main"/>
        </p:blipFill>
        <p:spPr>
          <a:xfrm xmlns:a="http://schemas.openxmlformats.org/drawingml/2006/main">
            <a:off x="2007770" y="2457450"/>
            <a:ext cx="4175961" cy="4857750"/>
          </a:xfrm>
          <a:prstGeom xmlns:a="http://schemas.openxmlformats.org/drawingml/2006/main" prst="rect">
            <a:avLst/>
          </a:prstGeom>
        </p:spPr>
      </p:pic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63C31B80-38EC-4619-B73F-BACEF3C6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24125"/>
            <a:ext cx="6334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1. ‘추출 항목만’을 누릅니다.</a:t>
            </a:r>
          </a:p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메일 제목 같은 기본 정보는</a:t>
            </a:r>
          </a:p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표에서 빠집니다.</a:t>
            </a:r>
          </a:p>
        </p:txBody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7B125E56-3B4D-4285-8F60-12E0CFD8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0025"/>
            <a:ext cx="6334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2. ‘교육일’ 앞의</a:t>
            </a:r>
          </a:p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체크를 해제합니다.</a:t>
            </a:r>
          </a:p>
        </p:txBody>
      </p:sp>
      <p:sp>
        <p:nvSpPr>
          <p:cNvPr id="7" name="step-3">
            <a:extLst xmlns:a="http://schemas.openxmlformats.org/drawingml/2006/main">
              <a:ext uri="{FF2B5EF4-FFF2-40B4-BE49-F238E27FC236}">
                <a16:creationId xmlns:a16="http://schemas.microsoft.com/office/drawing/2014/main" id="{BACB1A1C-64A5-4ECF-B146-D24E6824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95925"/>
            <a:ext cx="6334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3. 오른쪽 표를 확인합니다.</a:t>
            </a:r>
          </a:p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교육일을 다시 체크하면</a:t>
            </a:r>
          </a:p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원래 값이 돌아옵니다.</a:t>
            </a:r>
          </a:p>
        </p:txBody>
      </p:sp>
      <p:sp>
        <p:nvSpPr>
          <p:cNvPr id="8" name="remember">
            <a:extLst xmlns:a="http://schemas.openxmlformats.org/drawingml/2006/main">
              <a:ext uri="{FF2B5EF4-FFF2-40B4-BE49-F238E27FC236}">
                <a16:creationId xmlns:a16="http://schemas.microsoft.com/office/drawing/2014/main" id="{2149C78E-1C1E-4874-9CE9-5F3E069D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62875"/>
            <a:ext cx="1323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체크를 해제해도 원래 메일이나 첨부파일은 바뀌지 않습니다.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50525559-EBCE-4C84-B668-FB265DF9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867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202254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hapter">
            <a:extLst xmlns:a="http://schemas.openxmlformats.org/drawingml/2006/main">
              <a:ext uri="{FF2B5EF4-FFF2-40B4-BE49-F238E27FC236}">
                <a16:creationId xmlns:a16="http://schemas.microsoft.com/office/drawing/2014/main" id="{D2D4E992-BB81-4B40-978B-9891F214C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71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샘플로 표 만들기 연습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7D3F5CA-90FD-4888-910F-83173424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rPr>
              <a:t>항목을 뺀 표 확인</a:t>
            </a:r>
          </a:p>
        </p:txBody>
      </p:sp>
      <p:sp>
        <p:nvSpPr>
          <p:cNvPr id="3" name="lede">
            <a:extLst xmlns:a="http://schemas.openxmlformats.org/drawingml/2006/main">
              <a:ext uri="{FF2B5EF4-FFF2-40B4-BE49-F238E27FC236}">
                <a16:creationId xmlns:a16="http://schemas.microsoft.com/office/drawing/2014/main" id="{7139F4AE-0F0C-4F3C-A3F6-D773F7E78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교육일을 빼면 저장할 항목은 6개가 됩니다.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1571bbdf941aa"/>
          <a:stretch xmlns:a="http://schemas.openxmlformats.org/drawingml/2006/main"/>
        </p:blipFill>
        <p:spPr>
          <a:xfrm xmlns:a="http://schemas.openxmlformats.org/drawingml/2006/main">
            <a:off x="762000" y="2476500"/>
            <a:ext cx="13716000" cy="4302303"/>
          </a:xfrm>
          <a:prstGeom xmlns:a="http://schemas.openxmlformats.org/drawingml/2006/main" prst="rect">
            <a:avLst/>
          </a:prstGeom>
        </p:spPr>
      </p:pic>
      <p:sp>
        <p:nvSpPr>
          <p:cNvPr id="5" name="remember">
            <a:extLst xmlns:a="http://schemas.openxmlformats.org/drawingml/2006/main">
              <a:ext uri="{FF2B5EF4-FFF2-40B4-BE49-F238E27FC236}">
                <a16:creationId xmlns:a16="http://schemas.microsoft.com/office/drawing/2014/main" id="{32E3BE15-9D34-4AB5-80C0-6EC91ECD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62875"/>
            <a:ext cx="1323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교육일이 빠져 6개 항목이 남았습니다. 긴 내용은 칸을 누르면 크게 볼 수 있습니다.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89177B7F-9299-4373-A2AB-EDAC4FF0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867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290184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hapter">
            <a:extLst xmlns:a="http://schemas.openxmlformats.org/drawingml/2006/main">
              <a:ext uri="{FF2B5EF4-FFF2-40B4-BE49-F238E27FC236}">
                <a16:creationId xmlns:a16="http://schemas.microsoft.com/office/drawing/2014/main" id="{E90AC80D-5B06-4DD5-8E04-E34D2E9E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71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샘플로 표 만들기 연습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049807E-D72F-4692-AEB0-81F71C4B2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rPr>
              <a:t>새 항목 ‘검토 상태’ 추가</a:t>
            </a:r>
          </a:p>
        </p:txBody>
      </p:sp>
      <p:sp>
        <p:nvSpPr>
          <p:cNvPr id="3" name="lede">
            <a:extLst xmlns:a="http://schemas.openxmlformats.org/drawingml/2006/main">
              <a:ext uri="{FF2B5EF4-FFF2-40B4-BE49-F238E27FC236}">
                <a16:creationId xmlns:a16="http://schemas.microsoft.com/office/drawing/2014/main" id="{6CA5B157-C094-47E2-A634-12ABBB5E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받은 메일에 없던 관리용 항목을 추가할 수 있습니다.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0f8da0d3b04746"/>
          <a:stretch xmlns:a="http://schemas.openxmlformats.org/drawingml/2006/main"/>
        </p:blipFill>
        <p:spPr>
          <a:xfrm xmlns:a="http://schemas.openxmlformats.org/drawingml/2006/main">
            <a:off x="1301044" y="2457450"/>
            <a:ext cx="5589411" cy="4857750"/>
          </a:xfrm>
          <a:prstGeom xmlns:a="http://schemas.openxmlformats.org/drawingml/2006/main" prst="rect">
            <a:avLst/>
          </a:prstGeom>
        </p:spPr>
      </p:pic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97E02989-82FE-43B5-BD1C-ADE991C1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24125"/>
            <a:ext cx="6334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1. 왼쪽 아래의</a:t>
            </a:r>
          </a:p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‘＋ 사용자 열 추가’를 누릅니다.</a:t>
            </a:r>
          </a:p>
        </p:txBody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2FD8672F-1026-4AD8-ADB2-CEAFE4009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0025"/>
            <a:ext cx="6334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2. 열 이름: 검토 상태</a:t>
            </a:r>
          </a:p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공통 기본값: 검토 대기</a:t>
            </a:r>
          </a:p>
        </p:txBody>
      </p:sp>
      <p:sp>
        <p:nvSpPr>
          <p:cNvPr id="7" name="step-3">
            <a:extLst xmlns:a="http://schemas.openxmlformats.org/drawingml/2006/main">
              <a:ext uri="{FF2B5EF4-FFF2-40B4-BE49-F238E27FC236}">
                <a16:creationId xmlns:a16="http://schemas.microsoft.com/office/drawing/2014/main" id="{29F430B6-FCDF-4743-80A3-7192A1C4B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95925"/>
            <a:ext cx="6334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3. ‘미리보기에 반영’을 누릅니다.</a:t>
            </a:r>
          </a:p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모든 줄에 같은 값이 들어갑니다.</a:t>
            </a:r>
          </a:p>
        </p:txBody>
      </p:sp>
      <p:sp>
        <p:nvSpPr>
          <p:cNvPr id="8" name="remember">
            <a:extLst xmlns:a="http://schemas.openxmlformats.org/drawingml/2006/main">
              <a:ext uri="{FF2B5EF4-FFF2-40B4-BE49-F238E27FC236}">
                <a16:creationId xmlns:a16="http://schemas.microsoft.com/office/drawing/2014/main" id="{03AE97C9-D6D8-4D5A-BD1C-6FFE664C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62875"/>
            <a:ext cx="1323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공통 기본값은 모든 줄에 똑같이 넣을 내용입니다. 비워 두면 빈 항목을 추가합니다.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49896E90-CC39-416F-BA48-5E49B60F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867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619416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hapter">
            <a:extLst xmlns:a="http://schemas.openxmlformats.org/drawingml/2006/main">
              <a:ext uri="{FF2B5EF4-FFF2-40B4-BE49-F238E27FC236}">
                <a16:creationId xmlns:a16="http://schemas.microsoft.com/office/drawing/2014/main" id="{49E765FB-4AA0-4C27-996E-9C6C9E8DA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71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샘플로 표 만들기 연습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2E2FA11-CF01-485F-92F5-D3586541F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rPr>
              <a:t>항목 순서와 내용 바꾸기</a:t>
            </a:r>
          </a:p>
        </p:txBody>
      </p:sp>
      <p:sp>
        <p:nvSpPr>
          <p:cNvPr id="3" name="lede">
            <a:extLst xmlns:a="http://schemas.openxmlformats.org/drawingml/2006/main">
              <a:ext uri="{FF2B5EF4-FFF2-40B4-BE49-F238E27FC236}">
                <a16:creationId xmlns:a16="http://schemas.microsoft.com/office/drawing/2014/main" id="{063EB261-7F42-4F51-BE72-DC0564177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새로 추가한 항목에는 ‘추가’ 표시가 붙습니다.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7bc37055df4d0f"/>
          <a:stretch xmlns:a="http://schemas.openxmlformats.org/drawingml/2006/main"/>
        </p:blipFill>
        <p:spPr>
          <a:xfrm xmlns:a="http://schemas.openxmlformats.org/drawingml/2006/main">
            <a:off x="963780" y="2457450"/>
            <a:ext cx="6263941" cy="4857750"/>
          </a:xfrm>
          <a:prstGeom xmlns:a="http://schemas.openxmlformats.org/drawingml/2006/main" prst="rect">
            <a:avLst/>
          </a:prstGeom>
        </p:spPr>
      </p:pic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7B44C000-8998-4347-B52C-3468C3B2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24125"/>
            <a:ext cx="6334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1. 검토 상태 오른쪽의</a:t>
            </a:r>
          </a:p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위쪽 화살표를 한 번 누릅니다.</a:t>
            </a:r>
          </a:p>
        </p:txBody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404DB8B9-4D06-4780-8079-99762D32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0025"/>
            <a:ext cx="6334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2. 참석 인원 앞에 놓였는지</a:t>
            </a:r>
          </a:p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오른쪽 표에서 확인합니다.</a:t>
            </a:r>
          </a:p>
        </p:txBody>
      </p:sp>
      <p:sp>
        <p:nvSpPr>
          <p:cNvPr id="7" name="step-3">
            <a:extLst xmlns:a="http://schemas.openxmlformats.org/drawingml/2006/main">
              <a:ext uri="{FF2B5EF4-FFF2-40B4-BE49-F238E27FC236}">
                <a16:creationId xmlns:a16="http://schemas.microsoft.com/office/drawing/2014/main" id="{D843A3D7-CDD6-4D6A-AADD-C45A1EB9B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95925"/>
            <a:ext cx="6334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3. 이름이나 공통값을 바꾸려면</a:t>
            </a:r>
          </a:p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연필 모양을 누릅니다.</a:t>
            </a:r>
          </a:p>
        </p:txBody>
      </p:sp>
      <p:sp>
        <p:nvSpPr>
          <p:cNvPr id="8" name="remember">
            <a:extLst xmlns:a="http://schemas.openxmlformats.org/drawingml/2006/main">
              <a:ext uri="{FF2B5EF4-FFF2-40B4-BE49-F238E27FC236}">
                <a16:creationId xmlns:a16="http://schemas.microsoft.com/office/drawing/2014/main" id="{72D31704-2BA7-47E2-B32F-66F08F07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62875"/>
            <a:ext cx="1323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체크하지 않은 항목도 순서에 포함되므로, 원하는 위치까지 여러 번 이동해야 할 수 있습니다.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945D514F-BAF9-42AE-BF1A-A58892F1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867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828160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hapter">
            <a:extLst xmlns:a="http://schemas.openxmlformats.org/drawingml/2006/main">
              <a:ext uri="{FF2B5EF4-FFF2-40B4-BE49-F238E27FC236}">
                <a16:creationId xmlns:a16="http://schemas.microsoft.com/office/drawing/2014/main" id="{804272E0-CAA4-4DE5-9AA9-C7D01A778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71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샘플로 표 만들기 연습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D3656EE-02C7-4305-BD6C-A4CE62E77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rPr>
              <a:t>저장할 표 최종 확인</a:t>
            </a:r>
          </a:p>
        </p:txBody>
      </p:sp>
      <p:sp>
        <p:nvSpPr>
          <p:cNvPr id="3" name="lede">
            <a:extLst xmlns:a="http://schemas.openxmlformats.org/drawingml/2006/main">
              <a:ext uri="{FF2B5EF4-FFF2-40B4-BE49-F238E27FC236}">
                <a16:creationId xmlns:a16="http://schemas.microsoft.com/office/drawing/2014/main" id="{784F4DF2-F92B-4C44-BCC5-70E32C91D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연습을 마치면 메일 3개, 저장할 항목 7개가 됩니다.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7934d9ee934418"/>
          <a:stretch xmlns:a="http://schemas.openxmlformats.org/drawingml/2006/main"/>
        </p:blipFill>
        <p:spPr>
          <a:xfrm xmlns:a="http://schemas.openxmlformats.org/drawingml/2006/main">
            <a:off x="762000" y="2476500"/>
            <a:ext cx="13716000" cy="4584843"/>
          </a:xfrm>
          <a:prstGeom xmlns:a="http://schemas.openxmlformats.org/drawingml/2006/main" prst="rect">
            <a:avLst/>
          </a:prstGeom>
        </p:spPr>
      </p:pic>
      <p:sp>
        <p:nvSpPr>
          <p:cNvPr id="5" name="remember">
            <a:extLst xmlns:a="http://schemas.openxmlformats.org/drawingml/2006/main">
              <a:ext uri="{FF2B5EF4-FFF2-40B4-BE49-F238E27FC236}">
                <a16:creationId xmlns:a16="http://schemas.microsoft.com/office/drawing/2014/main" id="{9E8442A5-3316-4E4E-8691-57005DB34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62875"/>
            <a:ext cx="1323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교육일은 빠지고, 검토 상태에는 ‘검토 대기’가 세 줄 모두 들어갔습니다.</a:t>
            </a:r>
          </a:p>
        </p:txBody>
      </p:sp>
      <p:sp>
        <p:nvSpPr>
          <p:cNvPr id="6" name="page">
            <a:extLst xmlns:a="http://schemas.openxmlformats.org/drawingml/2006/main">
              <a:ext uri="{FF2B5EF4-FFF2-40B4-BE49-F238E27FC236}">
                <a16:creationId xmlns:a16="http://schemas.microsoft.com/office/drawing/2014/main" id="{C9254B52-2021-416C-A96E-732918DA9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867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909801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hapter">
            <a:extLst xmlns:a="http://schemas.openxmlformats.org/drawingml/2006/main">
              <a:ext uri="{FF2B5EF4-FFF2-40B4-BE49-F238E27FC236}">
                <a16:creationId xmlns:a16="http://schemas.microsoft.com/office/drawing/2014/main" id="{697CDAEA-E32A-487F-B5C5-4CE3AA3D3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71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샘플로 표 만들기 연습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D25001A-062B-4090-BD1F-EB2237A4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rPr>
              <a:t>편집 전 자료와 비교하기</a:t>
            </a:r>
          </a:p>
        </p:txBody>
      </p:sp>
      <p:sp>
        <p:nvSpPr>
          <p:cNvPr id="3" name="lede">
            <a:extLst xmlns:a="http://schemas.openxmlformats.org/drawingml/2006/main">
              <a:ext uri="{FF2B5EF4-FFF2-40B4-BE49-F238E27FC236}">
                <a16:creationId xmlns:a16="http://schemas.microsoft.com/office/drawing/2014/main" id="{5C81D9F8-7ECC-41D9-8F9E-73C6CD86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‘원본 전체’는 처음 불러온 항목을 모두 보여 주는 화면입니다.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91fdf5b1f416d"/>
          <a:stretch xmlns:a="http://schemas.openxmlformats.org/drawingml/2006/main"/>
        </p:blipFill>
        <p:spPr>
          <a:xfrm xmlns:a="http://schemas.openxmlformats.org/drawingml/2006/main">
            <a:off x="2956223" y="2428875"/>
            <a:ext cx="9327555" cy="3238500"/>
          </a:xfrm>
          <a:prstGeom xmlns:a="http://schemas.openxmlformats.org/drawingml/2006/main" prst="rect">
            <a:avLst/>
          </a:prstGeom>
        </p:spPr>
      </p:pic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B2DC4EC7-64D1-4AF2-8FFE-AC765142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4837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1. 오른쪽 위 ‘원본 전체’를 눌러 항목을 빼기 전의 자료를 봅니다.</a:t>
            </a:r>
          </a:p>
        </p:txBody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10E3E767-0CFB-4128-A7C2-3B855F15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4847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2. 비교한 뒤 ‘저장할 표’로 돌아옵니다. 항목과 순서를 확인하고 저장합니다.</a:t>
            </a:r>
          </a:p>
        </p:txBody>
      </p:sp>
      <p:sp>
        <p:nvSpPr>
          <p:cNvPr id="7" name="remember">
            <a:extLst xmlns:a="http://schemas.openxmlformats.org/drawingml/2006/main">
              <a:ext uri="{FF2B5EF4-FFF2-40B4-BE49-F238E27FC236}">
                <a16:creationId xmlns:a16="http://schemas.microsoft.com/office/drawing/2014/main" id="{C02E049F-7957-4558-B6C1-E04C4BF87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62875"/>
            <a:ext cx="1323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‘원본 전체’를 보고 있어도 저장은 자신이 선택한 항목과 순서대로 합니다.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72BC55A2-6F78-4069-92D1-756755BB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867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99815017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hapter">
            <a:extLst xmlns:a="http://schemas.openxmlformats.org/drawingml/2006/main">
              <a:ext uri="{FF2B5EF4-FFF2-40B4-BE49-F238E27FC236}">
                <a16:creationId xmlns:a16="http://schemas.microsoft.com/office/drawing/2014/main" id="{BBFB547E-253E-49D9-A9E6-681C2C0CF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71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결과 저장하기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1883987-A1BD-478F-9DA6-4D3E7FB9B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rPr>
              <a:t>저장할 폴더 정하기</a:t>
            </a:r>
          </a:p>
        </p:txBody>
      </p:sp>
      <p:sp>
        <p:nvSpPr>
          <p:cNvPr id="3" name="lede">
            <a:extLst xmlns:a="http://schemas.openxmlformats.org/drawingml/2006/main">
              <a:ext uri="{FF2B5EF4-FFF2-40B4-BE49-F238E27FC236}">
                <a16:creationId xmlns:a16="http://schemas.microsoft.com/office/drawing/2014/main" id="{494FCC60-3953-479D-83B4-6E2C84671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화면 아래의 ‘결과 저장 위치’는 파일을 보관할 폴더 주소입니다.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abe8842a649d4"/>
          <a:stretch xmlns:a="http://schemas.openxmlformats.org/drawingml/2006/main"/>
        </p:blipFill>
        <p:spPr>
          <a:xfrm xmlns:a="http://schemas.openxmlformats.org/drawingml/2006/main">
            <a:off x="762000" y="2428875"/>
            <a:ext cx="13716000" cy="1114551"/>
          </a:xfrm>
          <a:prstGeom xmlns:a="http://schemas.openxmlformats.org/drawingml/2006/main" prst="rect">
            <a:avLst/>
          </a:prstGeom>
        </p:spPr>
      </p:pic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980AD05B-402B-4A76-B8F0-4F25C383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1. 처음에는 프로그램이 제안한 저장 위치를 그대로 사용해도 됩니다.</a:t>
            </a:r>
          </a:p>
        </p:txBody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9A3B06D7-917F-473F-A98E-6ECB2C06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4347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2. 다른 곳에 보관하려면 원하는 폴더의 주소를 입력합니다.</a:t>
            </a:r>
          </a:p>
        </p:txBody>
      </p:sp>
      <p:sp>
        <p:nvSpPr>
          <p:cNvPr id="7" name="step-3">
            <a:extLst xmlns:a="http://schemas.openxmlformats.org/drawingml/2006/main">
              <a:ext uri="{FF2B5EF4-FFF2-40B4-BE49-F238E27FC236}">
                <a16:creationId xmlns:a16="http://schemas.microsoft.com/office/drawing/2014/main" id="{C0D327F2-9C7B-4558-944A-002364226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4357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3. 오른쪽 아래 ‘결과 저장’을 누릅니다.</a:t>
            </a:r>
          </a:p>
        </p:txBody>
      </p:sp>
      <p:sp>
        <p:nvSpPr>
          <p:cNvPr id="8" name="remember">
            <a:extLst xmlns:a="http://schemas.openxmlformats.org/drawingml/2006/main">
              <a:ext uri="{FF2B5EF4-FFF2-40B4-BE49-F238E27FC236}">
                <a16:creationId xmlns:a16="http://schemas.microsoft.com/office/drawing/2014/main" id="{37B2629F-3D4E-4549-AAAE-5B68126E5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62875"/>
            <a:ext cx="1323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그림 속 경로는 연습용입니다. 실제 화면에 표시된 자신의 저장 위치를 확인하세요.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A98D1FF6-4353-411A-A4FC-00C5A26F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867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01448190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hapter">
            <a:extLst xmlns:a="http://schemas.openxmlformats.org/drawingml/2006/main">
              <a:ext uri="{FF2B5EF4-FFF2-40B4-BE49-F238E27FC236}">
                <a16:creationId xmlns:a16="http://schemas.microsoft.com/office/drawing/2014/main" id="{3CE6F697-E18D-45F0-A43B-7A28594F0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71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결과 저장하기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DFA0837-FCCB-4577-AC64-AAADEF4A6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rPr>
              <a:t>저장된 Excel 열기</a:t>
            </a:r>
          </a:p>
        </p:txBody>
      </p:sp>
      <p:sp>
        <p:nvSpPr>
          <p:cNvPr id="3" name="lede">
            <a:extLst xmlns:a="http://schemas.openxmlformats.org/drawingml/2006/main">
              <a:ext uri="{FF2B5EF4-FFF2-40B4-BE49-F238E27FC236}">
                <a16:creationId xmlns:a16="http://schemas.microsoft.com/office/drawing/2014/main" id="{5C3BBAAA-FE59-4588-9420-A5E8F539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저장을 마치면 완료 안내와 다시 받을 수 있는 버튼이 나타납니다.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d85472648447bb"/>
          <a:stretch xmlns:a="http://schemas.openxmlformats.org/drawingml/2006/main"/>
        </p:blipFill>
        <p:spPr>
          <a:xfrm xmlns:a="http://schemas.openxmlformats.org/drawingml/2006/main">
            <a:off x="1049514" y="2428875"/>
            <a:ext cx="13140972" cy="2381250"/>
          </a:xfrm>
          <a:prstGeom xmlns:a="http://schemas.openxmlformats.org/drawingml/2006/main" prst="rect">
            <a:avLst/>
          </a:prstGeom>
        </p:spPr>
      </p:pic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1BF1071C-7A7A-4015-B70B-033852B5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1. 내려받은 EML_Table_Result.xlsx를 열고 아래쪽 ‘Result’ 시트를 확인합니다.</a:t>
            </a:r>
          </a:p>
        </p:txBody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312218F3-30BA-4026-80E1-96DE10E8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9122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2. 연습 결과에 3개 줄과 7개 항목이 있는지 확인합니다.</a:t>
            </a:r>
          </a:p>
        </p:txBody>
      </p:sp>
      <p:sp>
        <p:nvSpPr>
          <p:cNvPr id="7" name="step-3">
            <a:extLst xmlns:a="http://schemas.openxmlformats.org/drawingml/2006/main">
              <a:ext uri="{FF2B5EF4-FFF2-40B4-BE49-F238E27FC236}">
                <a16:creationId xmlns:a16="http://schemas.microsoft.com/office/drawing/2014/main" id="{E1E6DC81-3918-4DFA-8D09-916F9883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9132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3. 다운로드 파일을 찾기 어렵다면 ‘Excel 다시 받기’를 누르거나 안내된 저장 폴더를 엽니다.</a:t>
            </a:r>
          </a:p>
        </p:txBody>
      </p:sp>
      <p:sp>
        <p:nvSpPr>
          <p:cNvPr id="8" name="remember">
            <a:extLst xmlns:a="http://schemas.openxmlformats.org/drawingml/2006/main">
              <a:ext uri="{FF2B5EF4-FFF2-40B4-BE49-F238E27FC236}">
                <a16:creationId xmlns:a16="http://schemas.microsoft.com/office/drawing/2014/main" id="{7327FE77-E978-4783-A953-7CB50242A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62875"/>
            <a:ext cx="1323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저장 위치를 지정했다면 폴더 저장과 다운로드가 함께 진행됩니다. 두 곳에 파일이 생겨도 정상입니다.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B5B6FC49-DC2B-40B4-9051-9B6BDBDF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867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4404851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hapter">
            <a:extLst xmlns:a="http://schemas.openxmlformats.org/drawingml/2006/main">
              <a:ext uri="{FF2B5EF4-FFF2-40B4-BE49-F238E27FC236}">
                <a16:creationId xmlns:a16="http://schemas.microsoft.com/office/drawing/2014/main" id="{267E788B-958A-453F-A0F6-8531A52A9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71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내 메일로 실제 작업하기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FAF6D29-DE6E-454D-BB9E-E9F5CD2C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rPr>
              <a:t>내 메일 불러오기</a:t>
            </a:r>
          </a:p>
        </p:txBody>
      </p:sp>
      <p:sp>
        <p:nvSpPr>
          <p:cNvPr id="3" name="lede">
            <a:extLst xmlns:a="http://schemas.openxmlformats.org/drawingml/2006/main">
              <a:ext uri="{FF2B5EF4-FFF2-40B4-BE49-F238E27FC236}">
                <a16:creationId xmlns:a16="http://schemas.microsoft.com/office/drawing/2014/main" id="{E0725004-5824-4C7A-9433-00D59879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연습이 끝났다면 실제로 작업할 EML 파일을 선택합니다.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a9affc36ba4070"/>
          <a:stretch xmlns:a="http://schemas.openxmlformats.org/drawingml/2006/main"/>
        </p:blipFill>
        <p:spPr>
          <a:xfrm xmlns:a="http://schemas.openxmlformats.org/drawingml/2006/main">
            <a:off x="762000" y="2457450"/>
            <a:ext cx="6667500" cy="3624146"/>
          </a:xfrm>
          <a:prstGeom xmlns:a="http://schemas.openxmlformats.org/drawingml/2006/main" prst="rect">
            <a:avLst/>
          </a:prstGeom>
        </p:spPr>
      </p:pic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A14D7E43-4F01-44F8-88EA-50CC244B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24125"/>
            <a:ext cx="6334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1. 먼저 ‘표 취합’ 등</a:t>
            </a:r>
          </a:p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할 일을 선택합니다.</a:t>
            </a:r>
          </a:p>
        </p:txBody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68D52A31-AC06-4038-AFD7-6479B3AE0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0025"/>
            <a:ext cx="6334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2. ‘폴더 선택’으로 모두 읽거나</a:t>
            </a:r>
          </a:p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‘EML 파일 선택’으로</a:t>
            </a:r>
          </a:p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필요한 메일만 고릅니다.</a:t>
            </a:r>
          </a:p>
        </p:txBody>
      </p:sp>
      <p:sp>
        <p:nvSpPr>
          <p:cNvPr id="7" name="step-3">
            <a:extLst xmlns:a="http://schemas.openxmlformats.org/drawingml/2006/main">
              <a:ext uri="{FF2B5EF4-FFF2-40B4-BE49-F238E27FC236}">
                <a16:creationId xmlns:a16="http://schemas.microsoft.com/office/drawing/2014/main" id="{C4343DCD-10A1-4B91-95EA-AF8A6F90D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95925"/>
            <a:ext cx="6334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3. 메일 개수를 확인하고</a:t>
            </a:r>
          </a:p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항목을 고른 뒤 저장합니다.</a:t>
            </a:r>
          </a:p>
        </p:txBody>
      </p:sp>
      <p:sp>
        <p:nvSpPr>
          <p:cNvPr id="8" name="remember">
            <a:extLst xmlns:a="http://schemas.openxmlformats.org/drawingml/2006/main">
              <a:ext uri="{FF2B5EF4-FFF2-40B4-BE49-F238E27FC236}">
                <a16:creationId xmlns:a16="http://schemas.microsoft.com/office/drawing/2014/main" id="{FF2877DC-FAC9-456A-BDD5-514ABC01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62875"/>
            <a:ext cx="1323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새 메일을 불러오면 이전에 고른 항목과 추가한 항목은 처음 상태로 돌아갑니다.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3ECF42C6-EA60-41C1-BB1B-AF143AD4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867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6388770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hapter">
            <a:extLst xmlns:a="http://schemas.openxmlformats.org/drawingml/2006/main">
              <a:ext uri="{FF2B5EF4-FFF2-40B4-BE49-F238E27FC236}">
                <a16:creationId xmlns:a16="http://schemas.microsoft.com/office/drawing/2014/main" id="{76DD68CE-2B10-4FB2-BA54-A2FAF0A31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71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내 메일로 실제 작업하기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EE0EBA4-4FD4-48B7-81CB-F5BF0D4BD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rPr>
              <a:t>사용 예시: 교육 결과 모으기</a:t>
            </a:r>
          </a:p>
        </p:txBody>
      </p:sp>
      <p:sp>
        <p:nvSpPr>
          <p:cNvPr id="3" name="lede">
            <a:extLst xmlns:a="http://schemas.openxmlformats.org/drawingml/2006/main">
              <a:ext uri="{FF2B5EF4-FFF2-40B4-BE49-F238E27FC236}">
                <a16:creationId xmlns:a16="http://schemas.microsoft.com/office/drawing/2014/main" id="{BB6EFDB2-5DA7-4F10-9EED-641EBE50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여러 사람이 메일 본문이나 Word 첨부로 보낸 교육 결과를 한 표로 정리합니다.</a:t>
            </a:r>
          </a:p>
        </p:txBody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7E428B62-AC12-49F5-BD93-8FD5FDC06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1314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1. 회신 메일을 .eml 파일로 한 폴더에 모읍니다.</a:t>
            </a:r>
          </a:p>
          <a:p xmlns:a="http://schemas.openxmlformats.org/drawingml/2006/main">
            <a:pPr>
              <a:buNone/>
              <a:def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‘표 취합’을 선택합니다.</a:t>
            </a:r>
          </a:p>
        </p:txBody>
      </p:sp>
      <p:sp>
        <p:nvSpPr>
          <p:cNvPr id="5" name="step-2">
            <a:extLst xmlns:a="http://schemas.openxmlformats.org/drawingml/2006/main">
              <a:ext uri="{FF2B5EF4-FFF2-40B4-BE49-F238E27FC236}">
                <a16:creationId xmlns:a16="http://schemas.microsoft.com/office/drawing/2014/main" id="{65CED6F4-8358-40AC-85CC-730599D4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00525"/>
            <a:ext cx="1314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2. 메일 본문 표와 Word 첨부 표 중 필요한 곳을 체크합니다.</a:t>
            </a:r>
          </a:p>
          <a:p xmlns:a="http://schemas.openxmlformats.org/drawingml/2006/main">
            <a:pPr>
              <a:buNone/>
              <a:def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준비한 메일 폴더를 불러옵니다.</a:t>
            </a:r>
          </a:p>
        </p:txBody>
      </p:sp>
      <p:sp>
        <p:nvSpPr>
          <p:cNvPr id="6" name="step-3">
            <a:extLst xmlns:a="http://schemas.openxmlformats.org/drawingml/2006/main">
              <a:ext uri="{FF2B5EF4-FFF2-40B4-BE49-F238E27FC236}">
                <a16:creationId xmlns:a16="http://schemas.microsoft.com/office/drawing/2014/main" id="{29319FFF-0F1D-436C-9FFC-E40823EC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1314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3. 교육명과 강사 등 필요한 항목을 남깁니다.</a:t>
            </a:r>
          </a:p>
          <a:p xmlns:a="http://schemas.openxmlformats.org/drawingml/2006/main">
            <a:pPr>
              <a:buNone/>
              <a:def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‘검토 상태’를 추가한 뒤 Excel로 저장합니다.</a:t>
            </a:r>
          </a:p>
        </p:txBody>
      </p:sp>
      <p:sp>
        <p:nvSpPr>
          <p:cNvPr id="7" name="remember">
            <a:extLst xmlns:a="http://schemas.openxmlformats.org/drawingml/2006/main">
              <a:ext uri="{FF2B5EF4-FFF2-40B4-BE49-F238E27FC236}">
                <a16:creationId xmlns:a16="http://schemas.microsoft.com/office/drawing/2014/main" id="{D6AD9E9F-F9DC-409C-8C63-97016D00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62875"/>
            <a:ext cx="1323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같은 업무 양식의 메일을 모으면 항목을 비교하기 쉽습니다. 처음에는 메일 몇 통으로 결과를 확인해 보세요.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5B2636C4-9F03-4C7A-9956-B3FBE9D8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867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979217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hapter">
            <a:extLst xmlns:a="http://schemas.openxmlformats.org/drawingml/2006/main">
              <a:ext uri="{FF2B5EF4-FFF2-40B4-BE49-F238E27FC236}">
                <a16:creationId xmlns:a16="http://schemas.microsoft.com/office/drawing/2014/main" id="{5FC260FE-EADE-4DD2-9811-977E4C3AB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71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첨부파일 보관하기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756B627-9217-4210-A3BA-3F09ABD6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rPr>
              <a:t>사용 예시: 받은 첨부파일 보관</a:t>
            </a:r>
          </a:p>
        </p:txBody>
      </p:sp>
      <p:sp>
        <p:nvSpPr>
          <p:cNvPr id="3" name="lede">
            <a:extLst xmlns:a="http://schemas.openxmlformats.org/drawingml/2006/main">
              <a:ext uri="{FF2B5EF4-FFF2-40B4-BE49-F238E27FC236}">
                <a16:creationId xmlns:a16="http://schemas.microsoft.com/office/drawing/2014/main" id="{075B7333-7A66-4C6A-975B-9A1115A6A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메일 내용과 첨부 문서를 함께 모아 보관할 때 사용합니다.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85eac94a24d62"/>
          <a:stretch xmlns:a="http://schemas.openxmlformats.org/drawingml/2006/main"/>
        </p:blipFill>
        <p:spPr>
          <a:xfrm xmlns:a="http://schemas.openxmlformats.org/drawingml/2006/main">
            <a:off x="4548035" y="2428875"/>
            <a:ext cx="6143930" cy="2381250"/>
          </a:xfrm>
          <a:prstGeom xmlns:a="http://schemas.openxmlformats.org/drawingml/2006/main" prst="rect">
            <a:avLst/>
          </a:prstGeom>
        </p:spPr>
      </p:pic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D569BAEC-3B73-4A7C-A410-B79DAA306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1. ‘첨부 보관’을 누릅니다. 메일 내용 저장과 첨부파일 저장이 함께 선택됩니다.</a:t>
            </a:r>
          </a:p>
        </p:txBody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5B127933-878C-4818-8C91-3E15786A9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9122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2. 메일을 불러온 뒤 ‘메일 요약’과 ‘첨부파일’을 확인합니다.</a:t>
            </a:r>
          </a:p>
        </p:txBody>
      </p:sp>
      <p:sp>
        <p:nvSpPr>
          <p:cNvPr id="7" name="step-3">
            <a:extLst xmlns:a="http://schemas.openxmlformats.org/drawingml/2006/main">
              <a:ext uri="{FF2B5EF4-FFF2-40B4-BE49-F238E27FC236}">
                <a16:creationId xmlns:a16="http://schemas.microsoft.com/office/drawing/2014/main" id="{AFB6F09B-6442-420E-B32B-C63E1AC9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9132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3. ‘결과 저장’을 누르고 내려받은 EmailTools_Result.zip의 압축을 풉니다.</a:t>
            </a:r>
          </a:p>
        </p:txBody>
      </p:sp>
      <p:sp>
        <p:nvSpPr>
          <p:cNvPr id="8" name="remember">
            <a:extLst xmlns:a="http://schemas.openxmlformats.org/drawingml/2006/main">
              <a:ext uri="{FF2B5EF4-FFF2-40B4-BE49-F238E27FC236}">
                <a16:creationId xmlns:a16="http://schemas.microsoft.com/office/drawing/2014/main" id="{8F5DAD7B-76F5-4E21-8EB4-3CA90198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62875"/>
            <a:ext cx="1323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첨부파일만 필요하면 ‘메일 정보·본문 저장’의 체크를 해제한 뒤 메일을 불러옵니다.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CE4D27DF-AF5B-4765-B2E6-41161552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867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8685541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hapter">
            <a:extLst xmlns:a="http://schemas.openxmlformats.org/drawingml/2006/main">
              <a:ext uri="{FF2B5EF4-FFF2-40B4-BE49-F238E27FC236}">
                <a16:creationId xmlns:a16="http://schemas.microsoft.com/office/drawing/2014/main" id="{77568920-2223-4AF6-957D-6FC74568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71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첨부파일 보관하기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E88053B-8C4D-4664-9313-5BE64E6C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rPr>
              <a:t>첨부파일 목록 확인</a:t>
            </a:r>
          </a:p>
        </p:txBody>
      </p:sp>
      <p:sp>
        <p:nvSpPr>
          <p:cNvPr id="3" name="lede">
            <a:extLst xmlns:a="http://schemas.openxmlformats.org/drawingml/2006/main">
              <a:ext uri="{FF2B5EF4-FFF2-40B4-BE49-F238E27FC236}">
                <a16:creationId xmlns:a16="http://schemas.microsoft.com/office/drawing/2014/main" id="{306051DC-37A2-427D-A0ED-DA57B4BC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어느 메일에 어떤 문서가 들어 있는지 확인하는 화면입니다.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c0f39ecaf84170"/>
          <a:stretch xmlns:a="http://schemas.openxmlformats.org/drawingml/2006/main"/>
        </p:blipFill>
        <p:spPr>
          <a:xfrm xmlns:a="http://schemas.openxmlformats.org/drawingml/2006/main">
            <a:off x="1202419" y="2457450"/>
            <a:ext cx="5786661" cy="4857750"/>
          </a:xfrm>
          <a:prstGeom xmlns:a="http://schemas.openxmlformats.org/drawingml/2006/main" prst="rect">
            <a:avLst/>
          </a:prstGeom>
        </p:spPr>
      </p:pic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A9E4DE5C-C05A-4C01-9C36-E15BAF0AB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24125"/>
            <a:ext cx="6334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1. ‘첨부파일’을 누릅니다.</a:t>
            </a:r>
          </a:p>
        </p:txBody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127C8AF9-9DBA-4ED6-AE46-DA3245983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0025"/>
            <a:ext cx="6334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2. ‘메일’과 ‘첨부파일’에서</a:t>
            </a:r>
          </a:p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이름을 확인합니다.</a:t>
            </a:r>
          </a:p>
        </p:txBody>
      </p:sp>
      <p:sp>
        <p:nvSpPr>
          <p:cNvPr id="7" name="step-3">
            <a:extLst xmlns:a="http://schemas.openxmlformats.org/drawingml/2006/main">
              <a:ext uri="{FF2B5EF4-FFF2-40B4-BE49-F238E27FC236}">
                <a16:creationId xmlns:a16="http://schemas.microsoft.com/office/drawing/2014/main" id="{F23ADA73-D265-4680-B287-EBEBDB9A5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95925"/>
            <a:ext cx="6334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3. 목록을 확인했다면</a:t>
            </a:r>
          </a:p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‘결과 저장’을 눌러</a:t>
            </a:r>
          </a:p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파일을 보관합니다.</a:t>
            </a:r>
          </a:p>
        </p:txBody>
      </p:sp>
      <p:sp>
        <p:nvSpPr>
          <p:cNvPr id="8" name="remember">
            <a:extLst xmlns:a="http://schemas.openxmlformats.org/drawingml/2006/main">
              <a:ext uri="{FF2B5EF4-FFF2-40B4-BE49-F238E27FC236}">
                <a16:creationId xmlns:a16="http://schemas.microsoft.com/office/drawing/2014/main" id="{529BBBCF-7F0E-4147-BA86-5C0B078DA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62875"/>
            <a:ext cx="1323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목록에 보이는 것만으로 파일을 저장한 것은 아닙니다. 저장 버튼까지 눌러야 합니다.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D34827B9-F799-45F4-82CE-8E9A105E2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867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4436075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hapter">
            <a:extLst xmlns:a="http://schemas.openxmlformats.org/drawingml/2006/main">
              <a:ext uri="{FF2B5EF4-FFF2-40B4-BE49-F238E27FC236}">
                <a16:creationId xmlns:a16="http://schemas.microsoft.com/office/drawing/2014/main" id="{04B0F6CC-40F8-4F96-8892-21DCEC4F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71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첨부 문서의 글자 읽기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4FB631A-9059-442F-B93E-B93C1B45C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rPr>
              <a:t>사용 예시: 문서 내용을 글자로 모으기</a:t>
            </a:r>
          </a:p>
        </p:txBody>
      </p:sp>
      <p:sp>
        <p:nvSpPr>
          <p:cNvPr id="3" name="lede">
            <a:extLst xmlns:a="http://schemas.openxmlformats.org/drawingml/2006/main">
              <a:ext uri="{FF2B5EF4-FFF2-40B4-BE49-F238E27FC236}">
                <a16:creationId xmlns:a16="http://schemas.microsoft.com/office/drawing/2014/main" id="{CFABC9F8-4CD6-4283-9DFB-DF687392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첨부 문서의 글자를 읽어 별도의 텍스트 파일로 보관할 때 사용합니다.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19e821bd1416c"/>
          <a:stretch xmlns:a="http://schemas.openxmlformats.org/drawingml/2006/main"/>
        </p:blipFill>
        <p:spPr>
          <a:xfrm xmlns:a="http://schemas.openxmlformats.org/drawingml/2006/main">
            <a:off x="4548035" y="2428875"/>
            <a:ext cx="6143930" cy="2381250"/>
          </a:xfrm>
          <a:prstGeom xmlns:a="http://schemas.openxmlformats.org/drawingml/2006/main" prst="rect">
            <a:avLst/>
          </a:prstGeom>
        </p:spPr>
      </p:pic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8E3B3D38-9F4E-4BDD-85F8-B33BF0238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1. ‘첨부 내용 텍스트 추출’을 체크하고, 필요 없는 다른 항목은 해제합니다.</a:t>
            </a:r>
          </a:p>
        </p:txBody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1A98DDBD-9AA7-4C01-B37E-4AF854F4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9122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2. 메일을 불러온 뒤 ‘첨부파일’을 누릅니다.</a:t>
            </a:r>
          </a:p>
        </p:txBody>
      </p:sp>
      <p:sp>
        <p:nvSpPr>
          <p:cNvPr id="7" name="step-3">
            <a:extLst xmlns:a="http://schemas.openxmlformats.org/drawingml/2006/main">
              <a:ext uri="{FF2B5EF4-FFF2-40B4-BE49-F238E27FC236}">
                <a16:creationId xmlns:a16="http://schemas.microsoft.com/office/drawing/2014/main" id="{1BDB4D00-A6F1-4E31-B3EF-F63DE837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9132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3. ‘추출 내용’의 칸을 눌러 읽어 온 글자를 확인합니다.</a:t>
            </a:r>
          </a:p>
        </p:txBody>
      </p:sp>
      <p:sp>
        <p:nvSpPr>
          <p:cNvPr id="8" name="remember">
            <a:extLst xmlns:a="http://schemas.openxmlformats.org/drawingml/2006/main">
              <a:ext uri="{FF2B5EF4-FFF2-40B4-BE49-F238E27FC236}">
                <a16:creationId xmlns:a16="http://schemas.microsoft.com/office/drawing/2014/main" id="{41AEDE67-FFC3-4F52-86CE-1AC54AE6A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62875"/>
            <a:ext cx="1323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표 만들기와는 별개의 기능입니다. 이 기능만 선택하면 Excel 표는 만들지 않습니다.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4D94ACEA-C638-4F29-AD32-113E3E02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867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7556316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hapter">
            <a:extLst xmlns:a="http://schemas.openxmlformats.org/drawingml/2006/main">
              <a:ext uri="{FF2B5EF4-FFF2-40B4-BE49-F238E27FC236}">
                <a16:creationId xmlns:a16="http://schemas.microsoft.com/office/drawing/2014/main" id="{00A60CCB-A7F7-4E83-B03C-ED4D55F04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71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첨부 문서의 글자 읽기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9465141-D7A3-4033-8ED7-009E96DA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rPr>
              <a:t>읽어 온 내용 확인과 저장</a:t>
            </a:r>
          </a:p>
        </p:txBody>
      </p:sp>
      <p:sp>
        <p:nvSpPr>
          <p:cNvPr id="3" name="lede">
            <a:extLst xmlns:a="http://schemas.openxmlformats.org/drawingml/2006/main">
              <a:ext uri="{FF2B5EF4-FFF2-40B4-BE49-F238E27FC236}">
                <a16:creationId xmlns:a16="http://schemas.microsoft.com/office/drawing/2014/main" id="{E0DBBCEA-127C-4058-B1B4-A80CA10E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긴 글은 별도 창에서 확인할 수 있습니다.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13f746d4a045d8"/>
          <a:stretch xmlns:a="http://schemas.openxmlformats.org/drawingml/2006/main"/>
        </p:blipFill>
        <p:spPr>
          <a:xfrm xmlns:a="http://schemas.openxmlformats.org/drawingml/2006/main">
            <a:off x="762000" y="2457450"/>
            <a:ext cx="6667500" cy="2720647"/>
          </a:xfrm>
          <a:prstGeom xmlns:a="http://schemas.openxmlformats.org/drawingml/2006/main" prst="rect">
            <a:avLst/>
          </a:prstGeom>
        </p:spPr>
      </p:pic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F1446611-A4B3-4ADD-96B6-14DAA1A89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24125"/>
            <a:ext cx="6334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1. 읽어 온 내용을 확인합니다.</a:t>
            </a:r>
          </a:p>
        </p:txBody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FA2A7DB8-2BCB-41E0-8EAB-5FA434D7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0025"/>
            <a:ext cx="6334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2. 오른쪽 위 X로 닫습니다.</a:t>
            </a:r>
          </a:p>
        </p:txBody>
      </p:sp>
      <p:sp>
        <p:nvSpPr>
          <p:cNvPr id="7" name="step-3">
            <a:extLst xmlns:a="http://schemas.openxmlformats.org/drawingml/2006/main">
              <a:ext uri="{FF2B5EF4-FFF2-40B4-BE49-F238E27FC236}">
                <a16:creationId xmlns:a16="http://schemas.microsoft.com/office/drawing/2014/main" id="{E803066C-7A3F-4FAB-AF2E-908B86BD2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95925"/>
            <a:ext cx="6334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3. ‘결과 저장’을 누릅니다.</a:t>
            </a:r>
          </a:p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결과의 mails 폴더 안에서</a:t>
            </a:r>
          </a:p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메일별 text 폴더를 찾습니다.</a:t>
            </a:r>
          </a:p>
        </p:txBody>
      </p:sp>
      <p:sp>
        <p:nvSpPr>
          <p:cNvPr id="8" name="remember">
            <a:extLst xmlns:a="http://schemas.openxmlformats.org/drawingml/2006/main">
              <a:ext uri="{FF2B5EF4-FFF2-40B4-BE49-F238E27FC236}">
                <a16:creationId xmlns:a16="http://schemas.microsoft.com/office/drawing/2014/main" id="{E685F428-3AC5-477C-A514-C9E414B75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62875"/>
            <a:ext cx="1323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‘unsupported’는 이 형식의 글자를 읽는 기능을 지원하지 않는다는 뜻입니다.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A6D0669E-158C-4B74-8ABA-DD5F67F9B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867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38971844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hapter">
            <a:extLst xmlns:a="http://schemas.openxmlformats.org/drawingml/2006/main">
              <a:ext uri="{FF2B5EF4-FFF2-40B4-BE49-F238E27FC236}">
                <a16:creationId xmlns:a16="http://schemas.microsoft.com/office/drawing/2014/main" id="{48F54A7B-6D56-4D4E-91CB-77637508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71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여러 작업 함께 하기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D51ED28-6CFC-4615-806C-747906237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rPr>
              <a:t>본문과 첨부, 표를 한 번에 저장</a:t>
            </a:r>
          </a:p>
        </p:txBody>
      </p:sp>
      <p:sp>
        <p:nvSpPr>
          <p:cNvPr id="3" name="lede">
            <a:extLst xmlns:a="http://schemas.openxmlformats.org/drawingml/2006/main">
              <a:ext uri="{FF2B5EF4-FFF2-40B4-BE49-F238E27FC236}">
                <a16:creationId xmlns:a16="http://schemas.microsoft.com/office/drawing/2014/main" id="{BC53670B-5D40-4337-B268-D41AD3FA4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메일 내용, 첨부파일, 문서의 글자와 Excel 표가 모두 필요할 때 사용합니다.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690fee6ec24544"/>
          <a:stretch xmlns:a="http://schemas.openxmlformats.org/drawingml/2006/main"/>
        </p:blipFill>
        <p:spPr>
          <a:xfrm xmlns:a="http://schemas.openxmlformats.org/drawingml/2006/main">
            <a:off x="4548035" y="2428875"/>
            <a:ext cx="6143930" cy="2381250"/>
          </a:xfrm>
          <a:prstGeom xmlns:a="http://schemas.openxmlformats.org/drawingml/2006/main" prst="rect">
            <a:avLst/>
          </a:prstGeom>
        </p:spPr>
      </p:pic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A21E963E-671E-4FA9-AC4F-12AE481C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1. ‘전체 처리’를 누르고 메일을 불러옵니다.</a:t>
            </a:r>
          </a:p>
        </p:txBody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BA388EF5-5A6D-4A73-BF5E-26B67CBC1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9122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2. 메일 요약, 첨부파일 목록과 표 미리보기를 확인합니다.</a:t>
            </a:r>
          </a:p>
        </p:txBody>
      </p:sp>
      <p:sp>
        <p:nvSpPr>
          <p:cNvPr id="7" name="step-3">
            <a:extLst xmlns:a="http://schemas.openxmlformats.org/drawingml/2006/main">
              <a:ext uri="{FF2B5EF4-FFF2-40B4-BE49-F238E27FC236}">
                <a16:creationId xmlns:a16="http://schemas.microsoft.com/office/drawing/2014/main" id="{F381C312-26EA-43D9-9976-6D87B23F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9132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3. 필요한 열을 고른 뒤 저장합니다. 내려받은 ZIP 안에 선택한 결과가 함께 들어 있습니다.</a:t>
            </a:r>
          </a:p>
        </p:txBody>
      </p:sp>
      <p:sp>
        <p:nvSpPr>
          <p:cNvPr id="8" name="remember">
            <a:extLst xmlns:a="http://schemas.openxmlformats.org/drawingml/2006/main">
              <a:ext uri="{FF2B5EF4-FFF2-40B4-BE49-F238E27FC236}">
                <a16:creationId xmlns:a16="http://schemas.microsoft.com/office/drawing/2014/main" id="{292AAC20-BB00-4463-91CC-A97E2B15A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62875"/>
            <a:ext cx="1323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표만 선택하면 Excel을 내려받고, 다른 저장 작업도 선택하면 결과를 ZIP으로 묶어 내려받습니다.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507E9C2A-9719-451F-ACD5-CA329286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867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5558565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hapter">
            <a:extLst xmlns:a="http://schemas.openxmlformats.org/drawingml/2006/main">
              <a:ext uri="{FF2B5EF4-FFF2-40B4-BE49-F238E27FC236}">
                <a16:creationId xmlns:a16="http://schemas.microsoft.com/office/drawing/2014/main" id="{A308F9B2-93DA-4FC5-9FD8-60E602DC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71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작업 중 선택 바꾸기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F935D3C-448B-44D4-8FD8-ECA01AA5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rPr>
              <a:t>불러온 뒤 할 일을 바꾼 경우</a:t>
            </a:r>
          </a:p>
        </p:txBody>
      </p:sp>
      <p:sp>
        <p:nvSpPr>
          <p:cNvPr id="3" name="lede">
            <a:extLst xmlns:a="http://schemas.openxmlformats.org/drawingml/2006/main">
              <a:ext uri="{FF2B5EF4-FFF2-40B4-BE49-F238E27FC236}">
                <a16:creationId xmlns:a16="http://schemas.microsoft.com/office/drawing/2014/main" id="{82FC8670-6263-439E-994F-F56AFB2E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체크만 바꾸면 기존 화면은 이전 결과를 계속 보여 줍니다.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b92a19846a47ff"/>
          <a:stretch xmlns:a="http://schemas.openxmlformats.org/drawingml/2006/main"/>
        </p:blipFill>
        <p:spPr>
          <a:xfrm xmlns:a="http://schemas.openxmlformats.org/drawingml/2006/main">
            <a:off x="3259695" y="2428875"/>
            <a:ext cx="8720610" cy="2381250"/>
          </a:xfrm>
          <a:prstGeom xmlns:a="http://schemas.openxmlformats.org/drawingml/2006/main" prst="rect">
            <a:avLst/>
          </a:prstGeom>
        </p:spPr>
      </p:pic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A9843E03-AF0D-46DE-83DF-EC38AD914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9112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1. 실행 옵션에서 새로 할 일을 선택합니다.</a:t>
            </a:r>
          </a:p>
        </p:txBody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36A87C1B-2057-463A-AD6F-EB50CEF68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9122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2. ‘선택한 옵션으로 다시 분석’을 누릅니다. 같은 메일을 새 선택으로 다시 읽습니다.</a:t>
            </a:r>
          </a:p>
        </p:txBody>
      </p:sp>
      <p:sp>
        <p:nvSpPr>
          <p:cNvPr id="7" name="step-3">
            <a:extLst xmlns:a="http://schemas.openxmlformats.org/drawingml/2006/main">
              <a:ext uri="{FF2B5EF4-FFF2-40B4-BE49-F238E27FC236}">
                <a16:creationId xmlns:a16="http://schemas.microsoft.com/office/drawing/2014/main" id="{8FF45432-3C37-4B07-AD0F-524E01B2A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791325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3. 읽기를 마치면 필요한 항목을 다시 고르고 저장합니다.</a:t>
            </a:r>
          </a:p>
        </p:txBody>
      </p:sp>
      <p:sp>
        <p:nvSpPr>
          <p:cNvPr id="8" name="remember">
            <a:extLst xmlns:a="http://schemas.openxmlformats.org/drawingml/2006/main">
              <a:ext uri="{FF2B5EF4-FFF2-40B4-BE49-F238E27FC236}">
                <a16:creationId xmlns:a16="http://schemas.microsoft.com/office/drawing/2014/main" id="{2976353E-77E8-4134-B702-75C340A93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62875"/>
            <a:ext cx="1323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다시 분석하면 항목 선택, 순서, 추가한 항목이 처음 상태로 돌아갑니다.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66C216D0-0080-4FCC-B5DD-3B26379B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867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61589053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hapter">
            <a:extLst xmlns:a="http://schemas.openxmlformats.org/drawingml/2006/main">
              <a:ext uri="{FF2B5EF4-FFF2-40B4-BE49-F238E27FC236}">
                <a16:creationId xmlns:a16="http://schemas.microsoft.com/office/drawing/2014/main" id="{AC65ECB5-8BDB-4758-8150-4AA763B5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71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막혔을 때 확인하기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325F361-8917-4DD6-974D-605F47F2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rPr>
              <a:t>노란 느낌표의 의미</a:t>
            </a:r>
          </a:p>
        </p:txBody>
      </p:sp>
      <p:sp>
        <p:nvSpPr>
          <p:cNvPr id="3" name="lede">
            <a:extLst xmlns:a="http://schemas.openxmlformats.org/drawingml/2006/main">
              <a:ext uri="{FF2B5EF4-FFF2-40B4-BE49-F238E27FC236}">
                <a16:creationId xmlns:a16="http://schemas.microsoft.com/office/drawing/2014/main" id="{67BE2535-6C5E-4C11-862A-D39BA29DA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노란 느낌표는 확인할 내용이 있다는 안내입니다.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071bbb32c240ba"/>
          <a:stretch xmlns:a="http://schemas.openxmlformats.org/drawingml/2006/main"/>
        </p:blipFill>
        <p:spPr>
          <a:xfrm xmlns:a="http://schemas.openxmlformats.org/drawingml/2006/main">
            <a:off x="762000" y="2457450"/>
            <a:ext cx="6667500" cy="2069224"/>
          </a:xfrm>
          <a:prstGeom xmlns:a="http://schemas.openxmlformats.org/drawingml/2006/main" prst="rect">
            <a:avLst/>
          </a:prstGeom>
        </p:spPr>
      </p:pic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7E247077-1F24-49A0-8940-B9D319307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24125"/>
            <a:ext cx="6334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1. 줄 번호 아래에 있는</a:t>
            </a:r>
          </a:p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느낌표를 누릅니다.</a:t>
            </a:r>
          </a:p>
        </p:txBody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3459C04A-6FA3-40F3-B2F6-7E3CF541C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10025"/>
            <a:ext cx="6334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2. ‘NO DOCX’는 Word 첨부가</a:t>
            </a:r>
          </a:p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없다는 뜻입니다.</a:t>
            </a:r>
          </a:p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본문의 값은 쓸 수 있습니다.</a:t>
            </a:r>
          </a:p>
        </p:txBody>
      </p:sp>
      <p:sp>
        <p:nvSpPr>
          <p:cNvPr id="7" name="step-3">
            <a:extLst xmlns:a="http://schemas.openxmlformats.org/drawingml/2006/main">
              <a:ext uri="{FF2B5EF4-FFF2-40B4-BE49-F238E27FC236}">
                <a16:creationId xmlns:a16="http://schemas.microsoft.com/office/drawing/2014/main" id="{3BD30775-36B2-49B2-8DF2-3AF8F43DD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495925"/>
            <a:ext cx="63341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3. 본문 표만 필요하다면</a:t>
            </a:r>
          </a:p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‘DOCX 첨부’를 해제하고</a:t>
            </a:r>
          </a:p>
          <a:p xmlns:a="http://schemas.openxmlformats.org/drawingml/2006/main">
            <a:pPr>
              <a:buNone/>
              <a:def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4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다시 분석합니다.</a:t>
            </a:r>
          </a:p>
        </p:txBody>
      </p:sp>
      <p:sp>
        <p:nvSpPr>
          <p:cNvPr id="8" name="remember">
            <a:extLst xmlns:a="http://schemas.openxmlformats.org/drawingml/2006/main">
              <a:ext uri="{FF2B5EF4-FFF2-40B4-BE49-F238E27FC236}">
                <a16:creationId xmlns:a16="http://schemas.microsoft.com/office/drawing/2014/main" id="{AFEBA0BD-D642-4005-9258-CEF5CE4B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62875"/>
            <a:ext cx="1323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샘플의 세 번째 메일에는 Word 첨부가 없으므로 이 안내가 나오는 것이 정상입니다.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B3B0F061-3770-4002-87C7-CEF4772AC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867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68217743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hapter">
            <a:extLst xmlns:a="http://schemas.openxmlformats.org/drawingml/2006/main">
              <a:ext uri="{FF2B5EF4-FFF2-40B4-BE49-F238E27FC236}">
                <a16:creationId xmlns:a16="http://schemas.microsoft.com/office/drawing/2014/main" id="{FD53AD68-CAF4-4172-A386-20A451FF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71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막혔을 때 확인하기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1FEF7A26-27C3-439A-9260-2C435A256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rPr>
              <a:t>저장이 안 되거나 표가 안 보일 때</a:t>
            </a:r>
          </a:p>
        </p:txBody>
      </p:sp>
      <p:sp>
        <p:nvSpPr>
          <p:cNvPr id="3" name="lede">
            <a:extLst xmlns:a="http://schemas.openxmlformats.org/drawingml/2006/main">
              <a:ext uri="{FF2B5EF4-FFF2-40B4-BE49-F238E27FC236}">
                <a16:creationId xmlns:a16="http://schemas.microsoft.com/office/drawing/2014/main" id="{2BCCF2DF-8545-4E40-9DD9-E8B47E232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화면 위의 안내 문구부터 확인하면 원인을 찾기 쉽습니다.</a:t>
            </a:r>
          </a:p>
        </p:txBody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A011379A-953A-4436-9ED4-EBD7E45E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1314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1. 저장 버튼이 흐리면 읽기가 끝났는지 확인합니다.</a:t>
            </a:r>
          </a:p>
          <a:p xmlns:a="http://schemas.openxmlformats.org/drawingml/2006/main">
            <a:pPr>
              <a:buNone/>
              <a:def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선택을 바꿨다면 ‘선택한 옵션으로 다시 분석’을 누릅니다.</a:t>
            </a:r>
          </a:p>
        </p:txBody>
      </p:sp>
      <p:sp>
        <p:nvSpPr>
          <p:cNvPr id="5" name="step-2">
            <a:extLst xmlns:a="http://schemas.openxmlformats.org/drawingml/2006/main">
              <a:ext uri="{FF2B5EF4-FFF2-40B4-BE49-F238E27FC236}">
                <a16:creationId xmlns:a16="http://schemas.microsoft.com/office/drawing/2014/main" id="{CCFB8D2F-F238-4CD6-901C-AD93F418F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00525"/>
            <a:ext cx="1314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2. 표의 항목을 모두 뺐다면 하나 이상 다시 체크합니다.</a:t>
            </a:r>
          </a:p>
        </p:txBody>
      </p:sp>
      <p:sp>
        <p:nvSpPr>
          <p:cNvPr id="6" name="step-3">
            <a:extLst xmlns:a="http://schemas.openxmlformats.org/drawingml/2006/main">
              <a:ext uri="{FF2B5EF4-FFF2-40B4-BE49-F238E27FC236}">
                <a16:creationId xmlns:a16="http://schemas.microsoft.com/office/drawing/2014/main" id="{F4BD3658-64C2-4813-9A06-F2EA555F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1314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3. 표 미리보기를 누를 수 없다면</a:t>
            </a:r>
          </a:p>
          <a:p xmlns:a="http://schemas.openxmlformats.org/drawingml/2006/main">
            <a:pPr>
              <a:buNone/>
              <a:def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‘표 추출 및 Excel 생성’을 체크하고 다시 분석합니다.</a:t>
            </a:r>
          </a:p>
        </p:txBody>
      </p:sp>
      <p:sp>
        <p:nvSpPr>
          <p:cNvPr id="7" name="remember">
            <a:extLst xmlns:a="http://schemas.openxmlformats.org/drawingml/2006/main">
              <a:ext uri="{FF2B5EF4-FFF2-40B4-BE49-F238E27FC236}">
                <a16:creationId xmlns:a16="http://schemas.microsoft.com/office/drawing/2014/main" id="{0BF8266D-DB48-4A04-A226-7C19675F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62875"/>
            <a:ext cx="1323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새로고침하면 항목 설정이 처음 상태로 돌아갑니다. 이미 저장한 결과 파일은 그대로 남습니다.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9AB2DA42-2AA2-4535-94DC-87CD5E74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867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10807246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hapter">
            <a:extLst xmlns:a="http://schemas.openxmlformats.org/drawingml/2006/main">
              <a:ext uri="{FF2B5EF4-FFF2-40B4-BE49-F238E27FC236}">
                <a16:creationId xmlns:a16="http://schemas.microsoft.com/office/drawing/2014/main" id="{D05F6D96-9864-4B68-89F3-68E9F0DA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71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알아 두면 좋은 점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D760915-43FA-4DB6-AFAD-2157FD997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rPr>
              <a:t>어떤 표를 모을 수 있나요?</a:t>
            </a:r>
          </a:p>
        </p:txBody>
      </p:sp>
      <p:sp>
        <p:nvSpPr>
          <p:cNvPr id="3" name="lede">
            <a:extLst xmlns:a="http://schemas.openxmlformats.org/drawingml/2006/main">
              <a:ext uri="{FF2B5EF4-FFF2-40B4-BE49-F238E27FC236}">
                <a16:creationId xmlns:a16="http://schemas.microsoft.com/office/drawing/2014/main" id="{0C5BEA61-72FC-4B6A-9E9C-8A3E031F6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메일 본문이나 Word 첨부에 들어 있는 ‘항목과 값’ 형태의 표를 모읍니다.</a:t>
            </a:r>
          </a:p>
        </p:txBody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D716C0BA-89F9-4A47-A2FB-E766C003B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1314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1. ‘교육명’ 옆에 ‘AI 업무 활용’처럼</a:t>
            </a:r>
          </a:p>
          <a:p xmlns:a="http://schemas.openxmlformats.org/drawingml/2006/main">
            <a:pPr>
              <a:buNone/>
              <a:def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항목과 값이 짝을 이루는 표를 사용합니다.</a:t>
            </a:r>
          </a:p>
        </p:txBody>
      </p:sp>
      <p:sp>
        <p:nvSpPr>
          <p:cNvPr id="5" name="step-2">
            <a:extLst xmlns:a="http://schemas.openxmlformats.org/drawingml/2006/main">
              <a:ext uri="{FF2B5EF4-FFF2-40B4-BE49-F238E27FC236}">
                <a16:creationId xmlns:a16="http://schemas.microsoft.com/office/drawing/2014/main" id="{3228D191-C447-48F3-832D-0B612BBD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00525"/>
            <a:ext cx="1314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2. 사진이나 스캔한 표는 읽지 못합니다.</a:t>
            </a:r>
          </a:p>
          <a:p xmlns:a="http://schemas.openxmlformats.org/drawingml/2006/main">
            <a:pPr>
              <a:buNone/>
              <a:def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PDF, Excel, PowerPoint의 표도 표 모으기 대상은 아닙니다.</a:t>
            </a:r>
          </a:p>
        </p:txBody>
      </p:sp>
      <p:sp>
        <p:nvSpPr>
          <p:cNvPr id="6" name="step-3">
            <a:extLst xmlns:a="http://schemas.openxmlformats.org/drawingml/2006/main">
              <a:ext uri="{FF2B5EF4-FFF2-40B4-BE49-F238E27FC236}">
                <a16:creationId xmlns:a16="http://schemas.microsoft.com/office/drawing/2014/main" id="{2BC9667C-064C-411D-AA5B-4C87B9D4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1314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3. 메일마다 다른 검토 결과를 입력하거나 값을 고치려면</a:t>
            </a:r>
          </a:p>
          <a:p xmlns:a="http://schemas.openxmlformats.org/drawingml/2006/main">
            <a:pPr>
              <a:buNone/>
              <a:def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저장한 Excel에서 수정합니다.</a:t>
            </a:r>
          </a:p>
        </p:txBody>
      </p:sp>
      <p:sp>
        <p:nvSpPr>
          <p:cNvPr id="7" name="remember">
            <a:extLst xmlns:a="http://schemas.openxmlformats.org/drawingml/2006/main">
              <a:ext uri="{FF2B5EF4-FFF2-40B4-BE49-F238E27FC236}">
                <a16:creationId xmlns:a16="http://schemas.microsoft.com/office/drawing/2014/main" id="{367E8E34-3045-4E97-9612-25B7309F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62875"/>
            <a:ext cx="1323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Word 파일은 이름 끝이 .docx인 문서입니다. .doc처럼 다른 형식의 문서는 표 읽기 대상이 아닙니다.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DB1F3FFA-436C-4100-8F53-05E9C327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867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63054326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hapter">
            <a:extLst xmlns:a="http://schemas.openxmlformats.org/drawingml/2006/main">
              <a:ext uri="{FF2B5EF4-FFF2-40B4-BE49-F238E27FC236}">
                <a16:creationId xmlns:a16="http://schemas.microsoft.com/office/drawing/2014/main" id="{E7732FDD-6AE3-47DB-B741-C9822924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71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작업 마치기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598AC32-E765-455F-9FF4-98271C888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rPr>
              <a:t>결과 확인 후 프로그램 종료</a:t>
            </a:r>
          </a:p>
        </p:txBody>
      </p:sp>
      <p:sp>
        <p:nvSpPr>
          <p:cNvPr id="3" name="lede">
            <a:extLst xmlns:a="http://schemas.openxmlformats.org/drawingml/2006/main">
              <a:ext uri="{FF2B5EF4-FFF2-40B4-BE49-F238E27FC236}">
                <a16:creationId xmlns:a16="http://schemas.microsoft.com/office/drawing/2014/main" id="{6E2CC6D5-1D2E-4E71-A674-2F23D4D02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필요한 파일을 보관한 뒤 프로그램을 종료합니다.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ef027d6c534178"/>
          <a:stretch xmlns:a="http://schemas.openxmlformats.org/drawingml/2006/main"/>
        </p:blipFill>
        <p:spPr>
          <a:xfrm xmlns:a="http://schemas.openxmlformats.org/drawingml/2006/main">
            <a:off x="762000" y="2428875"/>
            <a:ext cx="8572500" cy="1665911"/>
          </a:xfrm>
          <a:prstGeom xmlns:a="http://schemas.openxmlformats.org/drawingml/2006/main" prst="rect">
            <a:avLst/>
          </a:prstGeom>
        </p:spPr>
      </p:pic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01653AC2-9892-4137-91E1-1121FA29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5786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1. 저장한 Excel이나 ZIP을 열어 필요한 자료가 있는지 확인합니다.</a:t>
            </a:r>
          </a:p>
        </p:txBody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70E69682-697E-45C5-86EB-B548EB3C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75886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2. 화면 오른쪽 위 ‘프로그램 종료’를 누르고 종료 확인에 응답합니다.</a:t>
            </a:r>
          </a:p>
        </p:txBody>
      </p:sp>
      <p:sp>
        <p:nvSpPr>
          <p:cNvPr id="7" name="step-3">
            <a:extLst xmlns:a="http://schemas.openxmlformats.org/drawingml/2006/main">
              <a:ext uri="{FF2B5EF4-FFF2-40B4-BE49-F238E27FC236}">
                <a16:creationId xmlns:a16="http://schemas.microsoft.com/office/drawing/2014/main" id="{3EFCD077-A40F-40CD-90FB-914E7B37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75986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3. 프로그램이 종료되었다는 안내가 나오면 작업 화면을 닫습니다.</a:t>
            </a:r>
          </a:p>
        </p:txBody>
      </p:sp>
      <p:sp>
        <p:nvSpPr>
          <p:cNvPr id="8" name="remember">
            <a:extLst xmlns:a="http://schemas.openxmlformats.org/drawingml/2006/main">
              <a:ext uri="{FF2B5EF4-FFF2-40B4-BE49-F238E27FC236}">
                <a16:creationId xmlns:a16="http://schemas.microsoft.com/office/drawing/2014/main" id="{8F782D78-AA16-402C-AD2E-DA20C6A6A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62875"/>
            <a:ext cx="1323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인터넷 창만 닫으면 프로그램은 계속 켜져 있습니다. ‘프로그램 종료’ 버튼으로 마치세요.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79C9D499-53E3-4894-95B9-B58455195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867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73162229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hapter">
            <a:extLst xmlns:a="http://schemas.openxmlformats.org/drawingml/2006/main">
              <a:ext uri="{FF2B5EF4-FFF2-40B4-BE49-F238E27FC236}">
                <a16:creationId xmlns:a16="http://schemas.microsoft.com/office/drawing/2014/main" id="{801F72F9-BC87-46FF-A8CA-431F99CC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71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기존 사용자를 위한 안내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1F99494-59BA-40C5-9459-433F1A074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rPr>
              <a:t>이전 도구를 사용하던 분께</a:t>
            </a:r>
          </a:p>
        </p:txBody>
      </p:sp>
      <p:sp>
        <p:nvSpPr>
          <p:cNvPr id="3" name="lede">
            <a:extLst xmlns:a="http://schemas.openxmlformats.org/drawingml/2006/main">
              <a:ext uri="{FF2B5EF4-FFF2-40B4-BE49-F238E27FC236}">
                <a16:creationId xmlns:a16="http://schemas.microsoft.com/office/drawing/2014/main" id="{7797A32C-93B6-4257-AAE7-E5D38E19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이제는 프로그램 폴더의 run.bat 하나로 시작하면 됩니다.</a:t>
            </a:r>
          </a:p>
        </p:txBody>
      </p:sp>
      <p:sp>
        <p:nvSpPr>
          <p:cNvPr id="4" name="step-1">
            <a:extLst xmlns:a="http://schemas.openxmlformats.org/drawingml/2006/main">
              <a:ext uri="{FF2B5EF4-FFF2-40B4-BE49-F238E27FC236}">
                <a16:creationId xmlns:a16="http://schemas.microsoft.com/office/drawing/2014/main" id="{899EDC30-C8C8-4D4E-B159-94F4A99F1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62250"/>
            <a:ext cx="1314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1. 첨부파일을 저장하던 작업은 ‘첨부 보관’에서 시작합니다.</a:t>
            </a:r>
          </a:p>
        </p:txBody>
      </p:sp>
      <p:sp>
        <p:nvSpPr>
          <p:cNvPr id="5" name="step-2">
            <a:extLst xmlns:a="http://schemas.openxmlformats.org/drawingml/2006/main">
              <a:ext uri="{FF2B5EF4-FFF2-40B4-BE49-F238E27FC236}">
                <a16:creationId xmlns:a16="http://schemas.microsoft.com/office/drawing/2014/main" id="{65AD8476-7759-47B1-82D9-29789D583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00525"/>
            <a:ext cx="1314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2. 메일의 표를 Excel로 모으던 작업은 ‘표 취합’에서 시작합니다.</a:t>
            </a:r>
          </a:p>
        </p:txBody>
      </p:sp>
      <p:sp>
        <p:nvSpPr>
          <p:cNvPr id="6" name="step-3">
            <a:extLst xmlns:a="http://schemas.openxmlformats.org/drawingml/2006/main">
              <a:ext uri="{FF2B5EF4-FFF2-40B4-BE49-F238E27FC236}">
                <a16:creationId xmlns:a16="http://schemas.microsoft.com/office/drawing/2014/main" id="{FF7F7449-E094-444D-A71E-454AD097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13144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7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3. 파일을 찾을 때는 저장 완료 안내에 나온 폴더를 확인합니다.</a:t>
            </a:r>
          </a:p>
        </p:txBody>
      </p:sp>
      <p:sp>
        <p:nvSpPr>
          <p:cNvPr id="7" name="remember">
            <a:extLst xmlns:a="http://schemas.openxmlformats.org/drawingml/2006/main">
              <a:ext uri="{FF2B5EF4-FFF2-40B4-BE49-F238E27FC236}">
                <a16:creationId xmlns:a16="http://schemas.microsoft.com/office/drawing/2014/main" id="{F04041EF-3D3D-45D3-9A76-EB498E69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62875"/>
            <a:ext cx="1323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이전 프로그램의 바로가기 대신, 새로 받은 통합 프로그램의 run.bat을 사용하세요.</a:t>
            </a:r>
          </a:p>
        </p:txBody>
      </p:sp>
      <p:sp>
        <p:nvSpPr>
          <p:cNvPr id="8" name="page">
            <a:extLst xmlns:a="http://schemas.openxmlformats.org/drawingml/2006/main">
              <a:ext uri="{FF2B5EF4-FFF2-40B4-BE49-F238E27FC236}">
                <a16:creationId xmlns:a16="http://schemas.microsoft.com/office/drawing/2014/main" id="{FD6E571F-AA80-4ACB-BBDA-0026068AD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867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63378703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chapter">
            <a:extLst xmlns:a="http://schemas.openxmlformats.org/drawingml/2006/main">
              <a:ext uri="{FF2B5EF4-FFF2-40B4-BE49-F238E27FC236}">
                <a16:creationId xmlns:a16="http://schemas.microsoft.com/office/drawing/2014/main" id="{E780B9B7-77B7-41A1-919A-2B3ADD1A9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"/>
            <a:ext cx="1371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화면 크기와 작업 공간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91CE6C6-D912-4B82-BBED-9422C9EE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00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B4B"/>
                </a:solidFill>
                <a:latin typeface="Malgun Gothic"/>
                <a:ea typeface="Malgun Gothic"/>
                <a:cs typeface="Malgun Gothic"/>
              </a:rPr>
              <a:t>창 크기와 열 설정 조절</a:t>
            </a:r>
          </a:p>
        </p:txBody>
      </p:sp>
      <p:sp>
        <p:nvSpPr>
          <p:cNvPr id="3" name="lede">
            <a:extLst xmlns:a="http://schemas.openxmlformats.org/drawingml/2006/main">
              <a:ext uri="{FF2B5EF4-FFF2-40B4-BE49-F238E27FC236}">
                <a16:creationId xmlns:a16="http://schemas.microsoft.com/office/drawing/2014/main" id="{B0A6479F-CC8E-41D2-85BA-D6A949FC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90675"/>
            <a:ext cx="13716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창 너비에 따라 화면이 자동으로 재배치됩니다. 표를 넓게 보도록 열 설정을 조절할 수 있습니다.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618246c77148c4"/>
          <a:stretch xmlns:a="http://schemas.openxmlformats.org/drawingml/2006/main"/>
        </p:blipFill>
        <p:spPr>
          <a:xfrm xmlns:a="http://schemas.openxmlformats.org/drawingml/2006/main">
            <a:off x="2233226" y="2381250"/>
            <a:ext cx="10773547" cy="2952750"/>
          </a:xfrm>
          <a:prstGeom xmlns:a="http://schemas.openxmlformats.org/drawingml/2006/main" prst="rect">
            <a:avLst/>
          </a:prstGeom>
        </p:spPr>
      </p:pic>
      <p:sp>
        <p:nvSpPr>
          <p:cNvPr id="5" name="step-1">
            <a:extLst xmlns:a="http://schemas.openxmlformats.org/drawingml/2006/main">
              <a:ext uri="{FF2B5EF4-FFF2-40B4-BE49-F238E27FC236}">
                <a16:creationId xmlns:a16="http://schemas.microsoft.com/office/drawing/2014/main" id="{E9AEA245-9BB9-4A6B-A31A-F9585A51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29275"/>
            <a:ext cx="1371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1. ‘열 설정 접기’를 누르면 표가 넓어집니다. 다시 보려면 ‘열 설정 펼치기’를 누릅니다.</a:t>
            </a:r>
          </a:p>
        </p:txBody>
      </p:sp>
      <p:sp>
        <p:nvSpPr>
          <p:cNvPr id="6" name="step-2">
            <a:extLst xmlns:a="http://schemas.openxmlformats.org/drawingml/2006/main">
              <a:ext uri="{FF2B5EF4-FFF2-40B4-BE49-F238E27FC236}">
                <a16:creationId xmlns:a16="http://schemas.microsoft.com/office/drawing/2014/main" id="{C4047B62-01A1-4375-B263-D905F462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96025"/>
            <a:ext cx="1371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2. 넓은 창에서는 열 구성과 표 사이의 세로 막대를 끌어 너비를 조절합니다.</a:t>
            </a:r>
          </a:p>
        </p:txBody>
      </p:sp>
      <p:sp>
        <p:nvSpPr>
          <p:cNvPr id="7" name="step-3">
            <a:extLst xmlns:a="http://schemas.openxmlformats.org/drawingml/2006/main">
              <a:ext uri="{FF2B5EF4-FFF2-40B4-BE49-F238E27FC236}">
                <a16:creationId xmlns:a16="http://schemas.microsoft.com/office/drawing/2014/main" id="{6169DA1D-4187-4EDB-8B6A-89843B41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962775"/>
            <a:ext cx="1371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314E5F"/>
                </a:solidFill>
                <a:latin typeface="Malgun Gothic"/>
                <a:ea typeface="Malgun Gothic"/>
                <a:cs typeface="Malgun Gothic"/>
              </a:rPr>
              <a:t>3. 좁은 창에서는 열 구성이 표 위로 이동합니다. 긴 목록과 표는 영역 안에서 스크롤합니다.</a:t>
            </a:r>
          </a:p>
        </p:txBody>
      </p:sp>
      <p:sp>
        <p:nvSpPr>
          <p:cNvPr id="8" name="remember">
            <a:extLst xmlns:a="http://schemas.openxmlformats.org/drawingml/2006/main">
              <a:ext uri="{FF2B5EF4-FFF2-40B4-BE49-F238E27FC236}">
                <a16:creationId xmlns:a16="http://schemas.microsoft.com/office/drawing/2014/main" id="{BD2E2C78-C015-44A6-9227-FB17B83A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62875"/>
            <a:ext cx="13239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007D83"/>
                </a:solidFill>
                <a:latin typeface="Malgun Gothic"/>
                <a:ea typeface="Malgun Gothic"/>
                <a:cs typeface="Malgun Gothic"/>
              </a:rPr>
              <a:t>막대에 키보드 초점을 두고 좌우 방향키로도 조절할 수 있습니다. 창 크기만 바꿔도 현재 선택은 유지됩니다.</a:t>
            </a:r>
          </a:p>
        </p:txBody>
      </p:sp>
      <p:sp>
        <p:nvSpPr>
          <p:cNvPr id="9" name="page">
            <a:extLst xmlns:a="http://schemas.openxmlformats.org/drawingml/2006/main">
              <a:ext uri="{FF2B5EF4-FFF2-40B4-BE49-F238E27FC236}">
                <a16:creationId xmlns:a16="http://schemas.microsoft.com/office/drawing/2014/main" id="{27A9E4EB-9735-4B00-8DD0-FB69F526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0" y="80867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5717E"/>
                </a:solidFill>
                <a:latin typeface="Malgun Gothic"/>
                <a:ea typeface="Malgun Gothic"/>
                <a:cs typeface="Malgun Gothic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15961160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2026-09-07T16:55:47.6630000Z</dcterms:created>
  <dcterms:modified xsi:type="dcterms:W3CDTF">2026-09-07T16:55:47.6630000Z</dcterms:modified>
</coreProperties>
</file>